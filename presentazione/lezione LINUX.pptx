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y="10287000" cx="18288000"/>
  <p:notesSz cx="6858000" cy="9144000"/>
  <p:embeddedFontLst>
    <p:embeddedFont>
      <p:font typeface="Paytone One"/>
      <p:regular r:id="rId35"/>
    </p:embeddedFont>
    <p:embeddedFont>
      <p:font typeface="Lat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aytoneOne-regular.fntdata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ato-bold.fntdata"/><Relationship Id="rId14" Type="http://schemas.openxmlformats.org/officeDocument/2006/relationships/slide" Target="slides/slide9.xml"/><Relationship Id="rId36" Type="http://schemas.openxmlformats.org/officeDocument/2006/relationships/font" Target="fonts/Lato-regular.fntdata"/><Relationship Id="rId17" Type="http://schemas.openxmlformats.org/officeDocument/2006/relationships/slide" Target="slides/slide12.xml"/><Relationship Id="rId39" Type="http://schemas.openxmlformats.org/officeDocument/2006/relationships/font" Target="fonts/Lato-boldItalic.fntdata"/><Relationship Id="rId16" Type="http://schemas.openxmlformats.org/officeDocument/2006/relationships/slide" Target="slides/slide11.xml"/><Relationship Id="rId38" Type="http://schemas.openxmlformats.org/officeDocument/2006/relationships/font" Target="fonts/Lat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fd817b14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fd817b148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bfd817b148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bfd817b148_0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bfd817b148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g3bfd817b148_0_5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bfd817b148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bfd817b148_0_3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bfd817b148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bfd817b148_0_3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bfd817b148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g3bfd817b148_0_3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bfd817b148_0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bfd817b148_0_3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bfd817b148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bfd817b148_0_6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bfd817b148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bfd817b148_0_4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bfd817b148_0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3bfd817b148_0_4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bfd817b148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g3bfd817b148_0_4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bfd817b148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g3bfd817b148_0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fd817b148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g3bfd817b148_0_4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bfd817b148_0_4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bfd817b148_0_4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fd817b148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g3bfd817b148_0_5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bfd817b148_0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bfd817b148_0_6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5.png"/><Relationship Id="rId7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6.jpg"/><Relationship Id="rId4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21.png"/><Relationship Id="rId7" Type="http://schemas.openxmlformats.org/officeDocument/2006/relationships/image" Target="../media/image3.png"/><Relationship Id="rId8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16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23.png"/><Relationship Id="rId5" Type="http://schemas.openxmlformats.org/officeDocument/2006/relationships/image" Target="../media/image36.png"/><Relationship Id="rId6" Type="http://schemas.openxmlformats.org/officeDocument/2006/relationships/image" Target="../media/image27.png"/><Relationship Id="rId7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2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2.png"/><Relationship Id="rId4" Type="http://schemas.openxmlformats.org/officeDocument/2006/relationships/image" Target="../media/image40.png"/><Relationship Id="rId5" Type="http://schemas.openxmlformats.org/officeDocument/2006/relationships/image" Target="../media/image27.png"/><Relationship Id="rId6" Type="http://schemas.openxmlformats.org/officeDocument/2006/relationships/image" Target="../media/image3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7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7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Relationship Id="rId4" Type="http://schemas.openxmlformats.org/officeDocument/2006/relationships/image" Target="../media/image4.png"/><Relationship Id="rId5" Type="http://schemas.openxmlformats.org/officeDocument/2006/relationships/image" Target="../media/image3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0.png"/><Relationship Id="rId5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1.png"/><Relationship Id="rId4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9.jpg"/><Relationship Id="rId4" Type="http://schemas.openxmlformats.org/officeDocument/2006/relationships/image" Target="../media/image4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7167" y="7652680"/>
            <a:ext cx="3633717" cy="47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0403800" y="3631750"/>
            <a:ext cx="13622835" cy="160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9475" y="-11657525"/>
            <a:ext cx="3600025" cy="1426078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/>
          <p:nvPr/>
        </p:nvSpPr>
        <p:spPr>
          <a:xfrm>
            <a:off x="13039619" y="-1051404"/>
            <a:ext cx="8439362" cy="6030308"/>
          </a:xfrm>
          <a:custGeom>
            <a:rect b="b" l="l" r="r" t="t"/>
            <a:pathLst>
              <a:path extrusionOk="0" h="6030308" w="8439362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3"/>
          <p:cNvSpPr/>
          <p:nvPr/>
        </p:nvSpPr>
        <p:spPr>
          <a:xfrm flipH="1" rot="10800000">
            <a:off x="-3303437" y="7652673"/>
            <a:ext cx="8439362" cy="6030308"/>
          </a:xfrm>
          <a:custGeom>
            <a:rect b="b" l="l" r="r" t="t"/>
            <a:pathLst>
              <a:path extrusionOk="0" h="6030308" w="8439362">
                <a:moveTo>
                  <a:pt x="8439361" y="0"/>
                </a:moveTo>
                <a:lnTo>
                  <a:pt x="0" y="0"/>
                </a:lnTo>
                <a:lnTo>
                  <a:pt x="0" y="6030307"/>
                </a:lnTo>
                <a:lnTo>
                  <a:pt x="8439361" y="6030307"/>
                </a:lnTo>
                <a:lnTo>
                  <a:pt x="8439361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3"/>
          <p:cNvSpPr/>
          <p:nvPr/>
        </p:nvSpPr>
        <p:spPr>
          <a:xfrm>
            <a:off x="13152076" y="7652673"/>
            <a:ext cx="8170623" cy="8096345"/>
          </a:xfrm>
          <a:custGeom>
            <a:rect b="b" l="l" r="r" t="t"/>
            <a:pathLst>
              <a:path extrusionOk="0" h="8096345" w="8170623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3"/>
          <p:cNvSpPr/>
          <p:nvPr/>
        </p:nvSpPr>
        <p:spPr>
          <a:xfrm>
            <a:off x="-3034699" y="-5461944"/>
            <a:ext cx="8170623" cy="8096345"/>
          </a:xfrm>
          <a:custGeom>
            <a:rect b="b" l="l" r="r" t="t"/>
            <a:pathLst>
              <a:path extrusionOk="0" h="8096345" w="8170623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 txBox="1"/>
          <p:nvPr/>
        </p:nvSpPr>
        <p:spPr>
          <a:xfrm>
            <a:off x="2134373" y="4492515"/>
            <a:ext cx="13569600" cy="16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18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Linux base per HPC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-5" y="8913590"/>
            <a:ext cx="9610200" cy="13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5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>
                <a:solidFill>
                  <a:srgbClr val="FFD7F3"/>
                </a:solidFill>
                <a:latin typeface="Lato"/>
                <a:ea typeface="Lato"/>
                <a:cs typeface="Lato"/>
                <a:sym typeface="Lato"/>
              </a:rPr>
              <a:t>Michele Lombardi </a:t>
            </a:r>
            <a:endParaRPr sz="3499">
              <a:solidFill>
                <a:srgbClr val="FFD7F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1" marL="0" marR="0" rtl="0" algn="l">
              <a:lnSpc>
                <a:spcPct val="15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99">
                <a:solidFill>
                  <a:srgbClr val="FFD7F3"/>
                </a:solidFill>
                <a:latin typeface="Lato"/>
                <a:ea typeface="Lato"/>
                <a:cs typeface="Lato"/>
                <a:sym typeface="Lato"/>
              </a:rPr>
              <a:t>micro-Y</a:t>
            </a:r>
            <a:endParaRPr sz="3499">
              <a:solidFill>
                <a:srgbClr val="FFD7F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rot="-5400000">
            <a:off x="1690209" y="3263486"/>
            <a:ext cx="4234656" cy="4234656"/>
          </a:xfrm>
          <a:custGeom>
            <a:rect b="b" l="l" r="r" t="t"/>
            <a:pathLst>
              <a:path extrusionOk="0" h="812800" w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cap="sq" cmpd="sng" w="142875">
            <a:solidFill>
              <a:srgbClr val="FA0113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124" y="3440325"/>
            <a:ext cx="3881100" cy="38811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99" name="Google Shape;99;p14"/>
          <p:cNvGrpSpPr/>
          <p:nvPr/>
        </p:nvGrpSpPr>
        <p:grpSpPr>
          <a:xfrm rot="-5400000">
            <a:off x="12654289" y="3263454"/>
            <a:ext cx="4234688" cy="4234688"/>
            <a:chOff x="0" y="0"/>
            <a:chExt cx="812800" cy="812800"/>
          </a:xfrm>
        </p:grpSpPr>
        <p:sp>
          <p:nvSpPr>
            <p:cNvPr id="100" name="Google Shape;100;p1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42875">
              <a:solidFill>
                <a:srgbClr val="FA011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10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" name="Google Shape;102;p14" title="download.jpeg"/>
          <p:cNvPicPr preferRelativeResize="0"/>
          <p:nvPr/>
        </p:nvPicPr>
        <p:blipFill rotWithShape="1">
          <a:blip r:embed="rId4">
            <a:alphaModFix/>
          </a:blip>
          <a:srcRect b="0" l="35672" r="8327" t="0"/>
          <a:stretch/>
        </p:blipFill>
        <p:spPr>
          <a:xfrm>
            <a:off x="12831274" y="3443850"/>
            <a:ext cx="3880800" cy="38808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6918842" y="3010080"/>
            <a:ext cx="4741470" cy="4741470"/>
          </a:xfrm>
          <a:custGeom>
            <a:rect b="b" l="l" r="r" t="t"/>
            <a:pathLst>
              <a:path extrusionOk="0" h="4741470" w="4741470">
                <a:moveTo>
                  <a:pt x="0" y="0"/>
                </a:moveTo>
                <a:lnTo>
                  <a:pt x="4741470" y="0"/>
                </a:lnTo>
                <a:lnTo>
                  <a:pt x="4741470" y="4741469"/>
                </a:lnTo>
                <a:lnTo>
                  <a:pt x="0" y="4741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4" name="Google Shape;104;p14"/>
          <p:cNvSpPr txBox="1"/>
          <p:nvPr/>
        </p:nvSpPr>
        <p:spPr>
          <a:xfrm>
            <a:off x="1934850" y="717400"/>
            <a:ext cx="14418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COSA FACCIAMO OGGI?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1573352" y="7850568"/>
            <a:ext cx="44685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 lavorare su di un HPC non avrete un interfaccia come siete abituati ma una shell. </a:t>
            </a:r>
            <a:b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Oggi imparerete ad usarla!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85050" y="2486850"/>
            <a:ext cx="5895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Impariamo a sopravvivere a linux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/>
          <p:cNvPicPr preferRelativeResize="0"/>
          <p:nvPr/>
        </p:nvPicPr>
        <p:blipFill rotWithShape="1">
          <a:blip r:embed="rId3">
            <a:alphaModFix amt="60000"/>
          </a:blip>
          <a:srcRect b="7811" l="0" r="0" t="7812"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0" y="6475320"/>
            <a:ext cx="5262362" cy="5565960"/>
          </a:xfrm>
          <a:custGeom>
            <a:rect b="b" l="l" r="r" t="t"/>
            <a:pathLst>
              <a:path extrusionOk="0" h="5565960" w="5262362">
                <a:moveTo>
                  <a:pt x="0" y="0"/>
                </a:moveTo>
                <a:lnTo>
                  <a:pt x="5262362" y="0"/>
                </a:lnTo>
                <a:lnTo>
                  <a:pt x="5262362" y="5565960"/>
                </a:lnTo>
                <a:lnTo>
                  <a:pt x="0" y="5565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3" name="Google Shape;11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56957" y="1201050"/>
            <a:ext cx="10775187" cy="7884901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/>
          <p:nvPr/>
        </p:nvSpPr>
        <p:spPr>
          <a:xfrm>
            <a:off x="14124615" y="-60815"/>
            <a:ext cx="5262362" cy="5565960"/>
          </a:xfrm>
          <a:custGeom>
            <a:rect b="b" l="l" r="r" t="t"/>
            <a:pathLst>
              <a:path extrusionOk="0" h="5565960" w="5262362">
                <a:moveTo>
                  <a:pt x="0" y="0"/>
                </a:moveTo>
                <a:lnTo>
                  <a:pt x="5262362" y="0"/>
                </a:lnTo>
                <a:lnTo>
                  <a:pt x="5262362" y="5565960"/>
                </a:lnTo>
                <a:lnTo>
                  <a:pt x="0" y="55659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5"/>
          <p:cNvSpPr txBox="1"/>
          <p:nvPr/>
        </p:nvSpPr>
        <p:spPr>
          <a:xfrm>
            <a:off x="7123004" y="4261158"/>
            <a:ext cx="5722800" cy="41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84">
                <a:latin typeface="Lato"/>
                <a:ea typeface="Lato"/>
                <a:cs typeface="Lato"/>
                <a:sym typeface="Lato"/>
              </a:rPr>
              <a:t>Storia di Linux</a:t>
            </a:r>
            <a:endParaRPr/>
          </a:p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84">
                <a:latin typeface="Lato"/>
                <a:ea typeface="Lato"/>
                <a:cs typeface="Lato"/>
                <a:sym typeface="Lato"/>
              </a:rPr>
              <a:t>Come collegarsi</a:t>
            </a:r>
            <a:endParaRPr/>
          </a:p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84">
                <a:latin typeface="Lato"/>
                <a:ea typeface="Lato"/>
                <a:cs typeface="Lato"/>
                <a:sym typeface="Lato"/>
              </a:rPr>
              <a:t>Kit di sopravvivenza</a:t>
            </a:r>
            <a:endParaRPr/>
          </a:p>
          <a:p>
            <a:pPr indent="0" lvl="1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84">
                <a:latin typeface="Lato"/>
                <a:ea typeface="Lato"/>
                <a:cs typeface="Lato"/>
                <a:sym typeface="Lato"/>
              </a:rPr>
              <a:t>Esercizi e domande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796112" y="2563171"/>
            <a:ext cx="8709900" cy="14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8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90" u="none" cap="none" strike="noStrike">
                <a:solidFill>
                  <a:srgbClr val="182F70"/>
                </a:solidFill>
                <a:latin typeface="Paytone One"/>
                <a:ea typeface="Paytone One"/>
                <a:cs typeface="Paytone One"/>
                <a:sym typeface="Paytone One"/>
              </a:rPr>
              <a:t>AGENDA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12936804" y="5438438"/>
            <a:ext cx="1138596" cy="1815153"/>
          </a:xfrm>
          <a:custGeom>
            <a:rect b="b" l="l" r="r" t="t"/>
            <a:pathLst>
              <a:path extrusionOk="0" h="1815153" w="1138596">
                <a:moveTo>
                  <a:pt x="0" y="0"/>
                </a:moveTo>
                <a:lnTo>
                  <a:pt x="1138597" y="0"/>
                </a:lnTo>
                <a:lnTo>
                  <a:pt x="1138597" y="1815154"/>
                </a:lnTo>
                <a:lnTo>
                  <a:pt x="0" y="18151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 txBox="1"/>
          <p:nvPr/>
        </p:nvSpPr>
        <p:spPr>
          <a:xfrm>
            <a:off x="5262362" y="4045170"/>
            <a:ext cx="1738800" cy="46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99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99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99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499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6643136" y="2603067"/>
            <a:ext cx="4824284" cy="613732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/>
          <p:nvPr/>
        </p:nvSpPr>
        <p:spPr>
          <a:xfrm>
            <a:off x="862821" y="2603067"/>
            <a:ext cx="4824284" cy="613732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6"/>
          <p:cNvSpPr/>
          <p:nvPr/>
        </p:nvSpPr>
        <p:spPr>
          <a:xfrm>
            <a:off x="12600895" y="2603067"/>
            <a:ext cx="4824284" cy="613732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14924316" y="-2604781"/>
            <a:ext cx="5762073" cy="4504894"/>
          </a:xfrm>
          <a:custGeom>
            <a:rect b="b" l="l" r="r" t="t"/>
            <a:pathLst>
              <a:path extrusionOk="0" h="4504894" w="5762073">
                <a:moveTo>
                  <a:pt x="0" y="0"/>
                </a:moveTo>
                <a:lnTo>
                  <a:pt x="5762073" y="0"/>
                </a:lnTo>
                <a:lnTo>
                  <a:pt x="5762073" y="4504893"/>
                </a:lnTo>
                <a:lnTo>
                  <a:pt x="0" y="4504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7" name="Google Shape;127;p16"/>
          <p:cNvSpPr/>
          <p:nvPr/>
        </p:nvSpPr>
        <p:spPr>
          <a:xfrm>
            <a:off x="-1773896" y="9022260"/>
            <a:ext cx="5762073" cy="4504894"/>
          </a:xfrm>
          <a:custGeom>
            <a:rect b="b" l="l" r="r" t="t"/>
            <a:pathLst>
              <a:path extrusionOk="0" h="4504894" w="5762073">
                <a:moveTo>
                  <a:pt x="0" y="0"/>
                </a:moveTo>
                <a:lnTo>
                  <a:pt x="5762073" y="0"/>
                </a:lnTo>
                <a:lnTo>
                  <a:pt x="5762073" y="4504893"/>
                </a:lnTo>
                <a:lnTo>
                  <a:pt x="0" y="4504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16"/>
          <p:cNvSpPr txBox="1"/>
          <p:nvPr/>
        </p:nvSpPr>
        <p:spPr>
          <a:xfrm>
            <a:off x="8056458" y="3050651"/>
            <a:ext cx="19977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0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6821093" y="6497520"/>
            <a:ext cx="44685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Molti dipositivi che usate tutti i giorni hanno come base linux, per esempio le smart tv, il router del wifi le console da gaming e molto altro.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2276143" y="3050651"/>
            <a:ext cx="19977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0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14014217" y="3050651"/>
            <a:ext cx="19977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790" u="none" cap="none" strike="noStrike">
                <a:solidFill>
                  <a:srgbClr val="7797ED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1040777" y="6497520"/>
            <a:ext cx="44685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Android usa il kernel linux come base del sistema aggiungendo sopra un interfaccia e app e voi non ve ne accorgete.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12778852" y="6497520"/>
            <a:ext cx="4468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Server di molti tipi, tra cui HPC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35225" y="716200"/>
            <a:ext cx="17436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Dove si trova Linux solo su HPC?</a:t>
            </a:r>
            <a:endParaRPr/>
          </a:p>
        </p:txBody>
      </p:sp>
      <p:pic>
        <p:nvPicPr>
          <p:cNvPr id="135" name="Google Shape;135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5350" y="4768525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7750" y="4768538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75500" y="4768538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4403500" y="4768538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12778852" y="7117320"/>
            <a:ext cx="4468500" cy="15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Linux è stabile, 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automatizzabile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ottimo per il multi utente e il calcolo e ha 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moltissimi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strumenti 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scientifici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 ambienti software giá standard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/>
          <p:nvPr/>
        </p:nvSpPr>
        <p:spPr>
          <a:xfrm>
            <a:off x="14924316" y="-2604781"/>
            <a:ext cx="5762073" cy="4504894"/>
          </a:xfrm>
          <a:custGeom>
            <a:rect b="b" l="l" r="r" t="t"/>
            <a:pathLst>
              <a:path extrusionOk="0" h="4504894" w="5762073">
                <a:moveTo>
                  <a:pt x="0" y="0"/>
                </a:moveTo>
                <a:lnTo>
                  <a:pt x="5762073" y="0"/>
                </a:lnTo>
                <a:lnTo>
                  <a:pt x="5762073" y="4504893"/>
                </a:lnTo>
                <a:lnTo>
                  <a:pt x="0" y="4504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5" name="Google Shape;145;p17"/>
          <p:cNvSpPr/>
          <p:nvPr/>
        </p:nvSpPr>
        <p:spPr>
          <a:xfrm>
            <a:off x="-1773896" y="9022260"/>
            <a:ext cx="5762073" cy="4504894"/>
          </a:xfrm>
          <a:custGeom>
            <a:rect b="b" l="l" r="r" t="t"/>
            <a:pathLst>
              <a:path extrusionOk="0" h="4504894" w="5762073">
                <a:moveTo>
                  <a:pt x="0" y="0"/>
                </a:moveTo>
                <a:lnTo>
                  <a:pt x="5762073" y="0"/>
                </a:lnTo>
                <a:lnTo>
                  <a:pt x="5762073" y="4504893"/>
                </a:lnTo>
                <a:lnTo>
                  <a:pt x="0" y="45048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6" name="Google Shape;146;p17"/>
          <p:cNvSpPr txBox="1"/>
          <p:nvPr/>
        </p:nvSpPr>
        <p:spPr>
          <a:xfrm>
            <a:off x="435225" y="716200"/>
            <a:ext cx="17436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Mini storia linux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224836" y="5197476"/>
            <a:ext cx="3513190" cy="356823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4999874" y="5197476"/>
            <a:ext cx="3513190" cy="356823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9774911" y="5197476"/>
            <a:ext cx="3513190" cy="356823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14549961" y="5197476"/>
            <a:ext cx="3513190" cy="3568236"/>
          </a:xfrm>
          <a:custGeom>
            <a:rect b="b" l="l" r="r" t="t"/>
            <a:pathLst>
              <a:path extrusionOk="0" h="1616415" w="1270593">
                <a:moveTo>
                  <a:pt x="22467" y="0"/>
                </a:moveTo>
                <a:lnTo>
                  <a:pt x="1248126" y="0"/>
                </a:lnTo>
                <a:cubicBezTo>
                  <a:pt x="1260534" y="0"/>
                  <a:pt x="1270593" y="10059"/>
                  <a:pt x="1270593" y="22467"/>
                </a:cubicBezTo>
                <a:lnTo>
                  <a:pt x="1270593" y="1593948"/>
                </a:lnTo>
                <a:cubicBezTo>
                  <a:pt x="1270593" y="1599907"/>
                  <a:pt x="1268226" y="1605621"/>
                  <a:pt x="1264013" y="1609835"/>
                </a:cubicBezTo>
                <a:cubicBezTo>
                  <a:pt x="1259799" y="1614048"/>
                  <a:pt x="1254085" y="1616415"/>
                  <a:pt x="1248126" y="1616415"/>
                </a:cubicBezTo>
                <a:lnTo>
                  <a:pt x="22467" y="1616415"/>
                </a:lnTo>
                <a:cubicBezTo>
                  <a:pt x="10059" y="1616415"/>
                  <a:pt x="0" y="1606356"/>
                  <a:pt x="0" y="1593948"/>
                </a:cubicBezTo>
                <a:lnTo>
                  <a:pt x="0" y="22467"/>
                </a:lnTo>
                <a:cubicBezTo>
                  <a:pt x="0" y="10059"/>
                  <a:pt x="10059" y="0"/>
                  <a:pt x="22467" y="0"/>
                </a:cubicBezTo>
                <a:close/>
              </a:path>
            </a:pathLst>
          </a:custGeom>
          <a:solidFill>
            <a:srgbClr val="305BCE"/>
          </a:solidFill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" name="Google Shape;151;p17"/>
          <p:cNvCxnSpPr/>
          <p:nvPr/>
        </p:nvCxnSpPr>
        <p:spPr>
          <a:xfrm rot="10800000">
            <a:off x="1981425" y="3382763"/>
            <a:ext cx="0" cy="17874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7"/>
          <p:cNvCxnSpPr/>
          <p:nvPr/>
        </p:nvCxnSpPr>
        <p:spPr>
          <a:xfrm rot="10800000">
            <a:off x="6814300" y="3410075"/>
            <a:ext cx="0" cy="17874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7"/>
          <p:cNvCxnSpPr/>
          <p:nvPr/>
        </p:nvCxnSpPr>
        <p:spPr>
          <a:xfrm rot="10800000">
            <a:off x="11531500" y="3410075"/>
            <a:ext cx="0" cy="17874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7"/>
          <p:cNvCxnSpPr/>
          <p:nvPr/>
        </p:nvCxnSpPr>
        <p:spPr>
          <a:xfrm rot="10800000">
            <a:off x="16306550" y="3382763"/>
            <a:ext cx="0" cy="17874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17"/>
          <p:cNvSpPr txBox="1"/>
          <p:nvPr/>
        </p:nvSpPr>
        <p:spPr>
          <a:xfrm>
            <a:off x="481425" y="54098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Anni '70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256463" y="54098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Anni '80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10031500" y="54098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1991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14872125" y="5409850"/>
            <a:ext cx="3000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Oggi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384226" y="6497525"/>
            <a:ext cx="31944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Nasce l'idea di un sistema 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multiutente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dove tutto è un file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5159263" y="6396288"/>
            <a:ext cx="31944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Si aggiungono librerie, comandi  e compilatori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9934301" y="6314913"/>
            <a:ext cx="31944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Nasce il kernel linux e si unisci agli strumenti GNU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14774926" y="6314913"/>
            <a:ext cx="31944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Standard per server, cloude e HPC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53825" y="2763950"/>
            <a:ext cx="15522401" cy="122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444301" y="3005377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9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267107" y="3005377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9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10955602" y="3005377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9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15774040" y="3005377"/>
            <a:ext cx="1089000" cy="7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79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/>
          <p:nvPr/>
        </p:nvSpPr>
        <p:spPr>
          <a:xfrm>
            <a:off x="-3266218" y="6680194"/>
            <a:ext cx="8242267" cy="8242267"/>
          </a:xfrm>
          <a:custGeom>
            <a:rect b="b" l="l" r="r" t="t"/>
            <a:pathLst>
              <a:path extrusionOk="0" h="8242267" w="8242267">
                <a:moveTo>
                  <a:pt x="0" y="0"/>
                </a:moveTo>
                <a:lnTo>
                  <a:pt x="8242266" y="0"/>
                </a:lnTo>
                <a:lnTo>
                  <a:pt x="8242266" y="8242267"/>
                </a:lnTo>
                <a:lnTo>
                  <a:pt x="0" y="82422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8"/>
          <p:cNvSpPr/>
          <p:nvPr/>
        </p:nvSpPr>
        <p:spPr>
          <a:xfrm>
            <a:off x="-2212668" y="-4499873"/>
            <a:ext cx="8242267" cy="8242267"/>
          </a:xfrm>
          <a:custGeom>
            <a:rect b="b" l="l" r="r" t="t"/>
            <a:pathLst>
              <a:path extrusionOk="0" h="8242267" w="8242267">
                <a:moveTo>
                  <a:pt x="0" y="0"/>
                </a:moveTo>
                <a:lnTo>
                  <a:pt x="8242266" y="0"/>
                </a:lnTo>
                <a:lnTo>
                  <a:pt x="8242266" y="8242266"/>
                </a:lnTo>
                <a:lnTo>
                  <a:pt x="0" y="82422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p18"/>
          <p:cNvSpPr txBox="1"/>
          <p:nvPr/>
        </p:nvSpPr>
        <p:spPr>
          <a:xfrm>
            <a:off x="-94470" y="4541706"/>
            <a:ext cx="6975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Ma Linux?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9898000" y="2855400"/>
            <a:ext cx="4509187" cy="3243181"/>
          </a:xfrm>
          <a:custGeom>
            <a:rect b="b" l="l" r="r" t="t"/>
            <a:pathLst>
              <a:path extrusionOk="0" h="2116268" w="2961699">
                <a:moveTo>
                  <a:pt x="0" y="0"/>
                </a:moveTo>
                <a:lnTo>
                  <a:pt x="2961699" y="0"/>
                </a:lnTo>
                <a:lnTo>
                  <a:pt x="2961699" y="2116268"/>
                </a:lnTo>
                <a:lnTo>
                  <a:pt x="0" y="2116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6" name="Google Shape;176;p18"/>
          <p:cNvSpPr txBox="1"/>
          <p:nvPr/>
        </p:nvSpPr>
        <p:spPr>
          <a:xfrm>
            <a:off x="7202618" y="406385"/>
            <a:ext cx="1380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Kernel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235338" y="1067874"/>
            <a:ext cx="3764700" cy="34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22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Il kernel è il software che sta più vicino all’hardware e decide come usare le risorse.</a:t>
            </a:r>
            <a:endParaRPr sz="22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CPU</a:t>
            </a:r>
            <a:endParaRPr sz="22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RAM</a:t>
            </a:r>
            <a:endParaRPr sz="22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DISCHI</a:t>
            </a:r>
            <a:endParaRPr sz="22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ECC</a:t>
            </a:r>
            <a:endParaRPr sz="22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1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78" name="Google Shape;178;p18"/>
          <p:cNvGrpSpPr/>
          <p:nvPr/>
        </p:nvGrpSpPr>
        <p:grpSpPr>
          <a:xfrm>
            <a:off x="8924007" y="2403174"/>
            <a:ext cx="2780094" cy="753300"/>
            <a:chOff x="124" y="25128"/>
            <a:chExt cx="3706792" cy="1004400"/>
          </a:xfrm>
        </p:grpSpPr>
        <p:cxnSp>
          <p:nvCxnSpPr>
            <p:cNvPr id="179" name="Google Shape;179;p18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180" name="Google Shape;180;p18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18"/>
          <p:cNvSpPr txBox="1"/>
          <p:nvPr/>
        </p:nvSpPr>
        <p:spPr>
          <a:xfrm>
            <a:off x="15715502" y="2855400"/>
            <a:ext cx="18420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User Space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14523289" y="3576099"/>
            <a:ext cx="3764700" cy="20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Lo user space è l’insieme dei programmi che girano “sopra” il kernel, cioè quello con cui interagite.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1" marL="0" marR="0" rtl="0" algn="ctr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83" name="Google Shape;183;p18"/>
          <p:cNvGrpSpPr/>
          <p:nvPr/>
        </p:nvGrpSpPr>
        <p:grpSpPr>
          <a:xfrm>
            <a:off x="12649876" y="3100721"/>
            <a:ext cx="2728379" cy="836100"/>
            <a:chOff x="12078" y="22390"/>
            <a:chExt cx="3637839" cy="1114800"/>
          </a:xfrm>
        </p:grpSpPr>
        <p:cxnSp>
          <p:nvCxnSpPr>
            <p:cNvPr id="184" name="Google Shape;184;p18"/>
            <p:cNvCxnSpPr/>
            <p:nvPr/>
          </p:nvCxnSpPr>
          <p:spPr>
            <a:xfrm flipH="1">
              <a:off x="12078" y="22390"/>
              <a:ext cx="2080800" cy="111480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185" name="Google Shape;185;p18"/>
            <p:cNvCxnSpPr/>
            <p:nvPr/>
          </p:nvCxnSpPr>
          <p:spPr>
            <a:xfrm>
              <a:off x="2064417" y="25400"/>
              <a:ext cx="1585500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6" name="Google Shape;186;p18"/>
          <p:cNvSpPr txBox="1"/>
          <p:nvPr/>
        </p:nvSpPr>
        <p:spPr>
          <a:xfrm>
            <a:off x="9451350" y="4000475"/>
            <a:ext cx="1821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HARDWARE</a:t>
            </a:r>
            <a:endParaRPr sz="200"/>
          </a:p>
        </p:txBody>
      </p:sp>
      <p:sp>
        <p:nvSpPr>
          <p:cNvPr id="187" name="Google Shape;187;p18"/>
          <p:cNvSpPr txBox="1"/>
          <p:nvPr/>
        </p:nvSpPr>
        <p:spPr>
          <a:xfrm>
            <a:off x="12231725" y="5227600"/>
            <a:ext cx="1821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librerie </a:t>
            </a:r>
            <a:endParaRPr sz="200"/>
          </a:p>
        </p:txBody>
      </p:sp>
      <p:sp>
        <p:nvSpPr>
          <p:cNvPr id="188" name="Google Shape;188;p18"/>
          <p:cNvSpPr txBox="1"/>
          <p:nvPr/>
        </p:nvSpPr>
        <p:spPr>
          <a:xfrm>
            <a:off x="12231725" y="5658400"/>
            <a:ext cx="1821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servizi</a:t>
            </a: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"/>
          </a:p>
        </p:txBody>
      </p:sp>
      <p:sp>
        <p:nvSpPr>
          <p:cNvPr id="189" name="Google Shape;189;p18"/>
          <p:cNvSpPr txBox="1"/>
          <p:nvPr/>
        </p:nvSpPr>
        <p:spPr>
          <a:xfrm>
            <a:off x="12231725" y="4796800"/>
            <a:ext cx="1821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programmi</a:t>
            </a: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"/>
          </a:p>
        </p:txBody>
      </p:sp>
      <p:sp>
        <p:nvSpPr>
          <p:cNvPr id="190" name="Google Shape;190;p18"/>
          <p:cNvSpPr txBox="1"/>
          <p:nvPr/>
        </p:nvSpPr>
        <p:spPr>
          <a:xfrm>
            <a:off x="12231725" y="4366813"/>
            <a:ext cx="1821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utenti</a:t>
            </a:r>
            <a:r>
              <a:rPr b="1" lang="en-US" sz="1599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00"/>
          </a:p>
        </p:txBody>
      </p:sp>
      <p:sp>
        <p:nvSpPr>
          <p:cNvPr id="191" name="Google Shape;191;p18"/>
          <p:cNvSpPr txBox="1"/>
          <p:nvPr/>
        </p:nvSpPr>
        <p:spPr>
          <a:xfrm>
            <a:off x="14858420" y="7003992"/>
            <a:ext cx="13803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Distro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11272650" y="7724675"/>
            <a:ext cx="6839100" cy="2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Una distro è un sistema Linux “confezionato”: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Kernel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Pacchetti (programmi, librerie, tool)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Configurazioni (servizi, utenti, rete, ecc.)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0649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37"/>
              <a:buFont typeface="Lato"/>
              <a:buChar char="●"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Package manager (apt, dnf, pacman…) per installare/aggiornare software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93" name="Google Shape;193;p18"/>
          <p:cNvGrpSpPr/>
          <p:nvPr/>
        </p:nvGrpSpPr>
        <p:grpSpPr>
          <a:xfrm rot="10800000">
            <a:off x="11817148" y="6588474"/>
            <a:ext cx="2780094" cy="753300"/>
            <a:chOff x="124" y="25128"/>
            <a:chExt cx="3706792" cy="1004400"/>
          </a:xfrm>
        </p:grpSpPr>
        <p:cxnSp>
          <p:nvCxnSpPr>
            <p:cNvPr id="194" name="Google Shape;194;p18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195" name="Google Shape;195;p18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96" name="Google Shape;196;p18"/>
          <p:cNvSpPr/>
          <p:nvPr/>
        </p:nvSpPr>
        <p:spPr>
          <a:xfrm>
            <a:off x="6310600" y="6438852"/>
            <a:ext cx="2507679" cy="2357218"/>
          </a:xfrm>
          <a:custGeom>
            <a:rect b="b" l="l" r="r" t="t"/>
            <a:pathLst>
              <a:path extrusionOk="0" h="2357218" w="2507679">
                <a:moveTo>
                  <a:pt x="0" y="0"/>
                </a:moveTo>
                <a:lnTo>
                  <a:pt x="2507678" y="0"/>
                </a:lnTo>
                <a:lnTo>
                  <a:pt x="2507678" y="2357218"/>
                </a:lnTo>
                <a:lnTo>
                  <a:pt x="0" y="2357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p18"/>
          <p:cNvSpPr txBox="1"/>
          <p:nvPr/>
        </p:nvSpPr>
        <p:spPr>
          <a:xfrm>
            <a:off x="7032226" y="6695900"/>
            <a:ext cx="15507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La GUI è opzionale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9"/>
          <p:cNvSpPr/>
          <p:nvPr/>
        </p:nvSpPr>
        <p:spPr>
          <a:xfrm>
            <a:off x="-2400814" y="7220412"/>
            <a:ext cx="4823268" cy="4940032"/>
          </a:xfrm>
          <a:custGeom>
            <a:rect b="b" l="l" r="r" t="t"/>
            <a:pathLst>
              <a:path extrusionOk="0" h="4940032" w="4823268">
                <a:moveTo>
                  <a:pt x="0" y="0"/>
                </a:moveTo>
                <a:lnTo>
                  <a:pt x="4823268" y="0"/>
                </a:lnTo>
                <a:lnTo>
                  <a:pt x="4823268" y="4940032"/>
                </a:lnTo>
                <a:lnTo>
                  <a:pt x="0" y="49400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9"/>
          <p:cNvSpPr/>
          <p:nvPr/>
        </p:nvSpPr>
        <p:spPr>
          <a:xfrm>
            <a:off x="16343989" y="-2155869"/>
            <a:ext cx="4823268" cy="4940032"/>
          </a:xfrm>
          <a:custGeom>
            <a:rect b="b" l="l" r="r" t="t"/>
            <a:pathLst>
              <a:path extrusionOk="0" h="4940032" w="4823268">
                <a:moveTo>
                  <a:pt x="0" y="0"/>
                </a:moveTo>
                <a:lnTo>
                  <a:pt x="4823268" y="0"/>
                </a:lnTo>
                <a:lnTo>
                  <a:pt x="4823268" y="4940033"/>
                </a:lnTo>
                <a:lnTo>
                  <a:pt x="0" y="49400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4" name="Google Shape;204;p19"/>
          <p:cNvSpPr/>
          <p:nvPr/>
        </p:nvSpPr>
        <p:spPr>
          <a:xfrm rot="1767906">
            <a:off x="951245" y="633418"/>
            <a:ext cx="1271847" cy="2057400"/>
          </a:xfrm>
          <a:custGeom>
            <a:rect b="b" l="l" r="r" t="t"/>
            <a:pathLst>
              <a:path extrusionOk="0" h="2057400" w="1271847">
                <a:moveTo>
                  <a:pt x="0" y="0"/>
                </a:moveTo>
                <a:lnTo>
                  <a:pt x="1271847" y="0"/>
                </a:lnTo>
                <a:lnTo>
                  <a:pt x="1271847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19"/>
          <p:cNvSpPr txBox="1"/>
          <p:nvPr/>
        </p:nvSpPr>
        <p:spPr>
          <a:xfrm>
            <a:off x="3138301" y="754583"/>
            <a:ext cx="120114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DI</a:t>
            </a:r>
            <a:r>
              <a:rPr b="0" i="0" lang="en-US" sz="8700" u="none" cap="none" strike="noStrike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STRIBUZION</a:t>
            </a: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I</a:t>
            </a:r>
            <a:endParaRPr/>
          </a:p>
        </p:txBody>
      </p:sp>
      <p:pic>
        <p:nvPicPr>
          <p:cNvPr id="206" name="Google Shape;206;p19" title="chapter01_The_Linux_Kernel_Distribution_Families_and_Individual_Distribution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8199" y="2870576"/>
            <a:ext cx="8691600" cy="5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865000" y="8583300"/>
            <a:ext cx="6558000" cy="10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 disastro, ma per vostra fortuna i comandi base sono comuni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/>
          <p:nvPr/>
        </p:nvSpPr>
        <p:spPr>
          <a:xfrm>
            <a:off x="-3190981" y="-181860"/>
            <a:ext cx="8439362" cy="6030308"/>
          </a:xfrm>
          <a:custGeom>
            <a:rect b="b" l="l" r="r" t="t"/>
            <a:pathLst>
              <a:path extrusionOk="0" h="6030308" w="8439362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20"/>
          <p:cNvSpPr/>
          <p:nvPr/>
        </p:nvSpPr>
        <p:spPr>
          <a:xfrm rot="5400000">
            <a:off x="-3868978" y="7052975"/>
            <a:ext cx="8439362" cy="6030308"/>
          </a:xfrm>
          <a:custGeom>
            <a:rect b="b" l="l" r="r" t="t"/>
            <a:pathLst>
              <a:path extrusionOk="0" h="6030308" w="8439362">
                <a:moveTo>
                  <a:pt x="0" y="0"/>
                </a:moveTo>
                <a:lnTo>
                  <a:pt x="8439362" y="0"/>
                </a:lnTo>
                <a:lnTo>
                  <a:pt x="8439362" y="6030307"/>
                </a:lnTo>
                <a:lnTo>
                  <a:pt x="0" y="6030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20"/>
          <p:cNvSpPr/>
          <p:nvPr/>
        </p:nvSpPr>
        <p:spPr>
          <a:xfrm>
            <a:off x="16773352" y="-181860"/>
            <a:ext cx="8439362" cy="6030308"/>
          </a:xfrm>
          <a:custGeom>
            <a:rect b="b" l="l" r="r" t="t"/>
            <a:pathLst>
              <a:path extrusionOk="0" h="6030308" w="8439362">
                <a:moveTo>
                  <a:pt x="0" y="0"/>
                </a:moveTo>
                <a:lnTo>
                  <a:pt x="8439362" y="0"/>
                </a:lnTo>
                <a:lnTo>
                  <a:pt x="8439362" y="6030308"/>
                </a:lnTo>
                <a:lnTo>
                  <a:pt x="0" y="60303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5" name="Google Shape;215;p20"/>
          <p:cNvSpPr txBox="1"/>
          <p:nvPr/>
        </p:nvSpPr>
        <p:spPr>
          <a:xfrm>
            <a:off x="958850" y="259550"/>
            <a:ext cx="172476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Confrontiamolo con WINDOWS 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1467900" y="1598750"/>
            <a:ext cx="7180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PRIMA COSA:  </a:t>
            </a:r>
            <a:r>
              <a:rPr b="1" lang="en-US" sz="46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FUNZIONA!</a:t>
            </a:r>
            <a:endParaRPr sz="2700"/>
          </a:p>
        </p:txBody>
      </p:sp>
      <p:sp>
        <p:nvSpPr>
          <p:cNvPr id="217" name="Google Shape;217;p20"/>
          <p:cNvSpPr/>
          <p:nvPr/>
        </p:nvSpPr>
        <p:spPr>
          <a:xfrm>
            <a:off x="1467900" y="3353925"/>
            <a:ext cx="6489548" cy="3691416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18" name="Google Shape;218;p20" title="Screenshot 2026-01-28 alle 18.35.50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1510" y="3894779"/>
            <a:ext cx="6439867" cy="31472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9" name="Google Shape;219;p20"/>
          <p:cNvGrpSpPr/>
          <p:nvPr/>
        </p:nvGrpSpPr>
        <p:grpSpPr>
          <a:xfrm>
            <a:off x="9915006" y="2626448"/>
            <a:ext cx="2029183" cy="821976"/>
            <a:chOff x="0" y="-47625"/>
            <a:chExt cx="802810" cy="325200"/>
          </a:xfrm>
        </p:grpSpPr>
        <p:sp>
          <p:nvSpPr>
            <p:cNvPr id="220" name="Google Shape;220;p20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20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" name="Google Shape;222;p20"/>
          <p:cNvGrpSpPr/>
          <p:nvPr/>
        </p:nvGrpSpPr>
        <p:grpSpPr>
          <a:xfrm>
            <a:off x="9915006" y="3995159"/>
            <a:ext cx="2029183" cy="821976"/>
            <a:chOff x="0" y="-47625"/>
            <a:chExt cx="802810" cy="325200"/>
          </a:xfrm>
        </p:grpSpPr>
        <p:sp>
          <p:nvSpPr>
            <p:cNvPr id="223" name="Google Shape;223;p20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" name="Google Shape;225;p20"/>
          <p:cNvGrpSpPr/>
          <p:nvPr/>
        </p:nvGrpSpPr>
        <p:grpSpPr>
          <a:xfrm>
            <a:off x="9915006" y="5363870"/>
            <a:ext cx="2029183" cy="821976"/>
            <a:chOff x="0" y="-47625"/>
            <a:chExt cx="802810" cy="325200"/>
          </a:xfrm>
        </p:grpSpPr>
        <p:sp>
          <p:nvSpPr>
            <p:cNvPr id="226" name="Google Shape;226;p20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0"/>
          <p:cNvSpPr txBox="1"/>
          <p:nvPr/>
        </p:nvSpPr>
        <p:spPr>
          <a:xfrm>
            <a:off x="8201656" y="4053678"/>
            <a:ext cx="13299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5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02</a:t>
            </a:r>
            <a:endParaRPr sz="931"/>
          </a:p>
        </p:txBody>
      </p:sp>
      <p:sp>
        <p:nvSpPr>
          <p:cNvPr id="229" name="Google Shape;229;p20"/>
          <p:cNvSpPr txBox="1"/>
          <p:nvPr/>
        </p:nvSpPr>
        <p:spPr>
          <a:xfrm>
            <a:off x="8201656" y="2690172"/>
            <a:ext cx="13299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5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01</a:t>
            </a:r>
            <a:endParaRPr sz="931"/>
          </a:p>
        </p:txBody>
      </p:sp>
      <p:sp>
        <p:nvSpPr>
          <p:cNvPr id="230" name="Google Shape;230;p20"/>
          <p:cNvSpPr txBox="1"/>
          <p:nvPr/>
        </p:nvSpPr>
        <p:spPr>
          <a:xfrm>
            <a:off x="8201656" y="5417185"/>
            <a:ext cx="13299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5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03</a:t>
            </a:r>
            <a:endParaRPr sz="931"/>
          </a:p>
        </p:txBody>
      </p:sp>
      <p:sp>
        <p:nvSpPr>
          <p:cNvPr id="231" name="Google Shape;231;p20"/>
          <p:cNvSpPr txBox="1"/>
          <p:nvPr/>
        </p:nvSpPr>
        <p:spPr>
          <a:xfrm>
            <a:off x="10470186" y="2956656"/>
            <a:ext cx="918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Percorsi</a:t>
            </a:r>
            <a:endParaRPr sz="931"/>
          </a:p>
        </p:txBody>
      </p:sp>
      <p:sp>
        <p:nvSpPr>
          <p:cNvPr id="232" name="Google Shape;232;p20"/>
          <p:cNvSpPr txBox="1"/>
          <p:nvPr/>
        </p:nvSpPr>
        <p:spPr>
          <a:xfrm>
            <a:off x="10059176" y="4315525"/>
            <a:ext cx="17367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Case sensitive</a:t>
            </a:r>
            <a:endParaRPr sz="931"/>
          </a:p>
        </p:txBody>
      </p:sp>
      <p:sp>
        <p:nvSpPr>
          <p:cNvPr id="233" name="Google Shape;233;p20"/>
          <p:cNvSpPr txBox="1"/>
          <p:nvPr/>
        </p:nvSpPr>
        <p:spPr>
          <a:xfrm>
            <a:off x="10264621" y="5728100"/>
            <a:ext cx="1329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Estensioni</a:t>
            </a:r>
            <a:endParaRPr sz="931"/>
          </a:p>
        </p:txBody>
      </p:sp>
      <p:sp>
        <p:nvSpPr>
          <p:cNvPr id="234" name="Google Shape;234;p20"/>
          <p:cNvSpPr txBox="1"/>
          <p:nvPr/>
        </p:nvSpPr>
        <p:spPr>
          <a:xfrm>
            <a:off x="12697400" y="2985451"/>
            <a:ext cx="5449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/ (non C:\) → es. /home/nomeutente/</a:t>
            </a:r>
            <a:endParaRPr sz="931"/>
          </a:p>
        </p:txBody>
      </p:sp>
      <p:sp>
        <p:nvSpPr>
          <p:cNvPr id="235" name="Google Shape;235;p20"/>
          <p:cNvSpPr txBox="1"/>
          <p:nvPr/>
        </p:nvSpPr>
        <p:spPr>
          <a:xfrm>
            <a:off x="12697400" y="4374441"/>
            <a:ext cx="5449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Dati ≠ dati</a:t>
            </a:r>
            <a:endParaRPr sz="931"/>
          </a:p>
        </p:txBody>
      </p:sp>
      <p:sp>
        <p:nvSpPr>
          <p:cNvPr id="236" name="Google Shape;236;p20"/>
          <p:cNvSpPr txBox="1"/>
          <p:nvPr/>
        </p:nvSpPr>
        <p:spPr>
          <a:xfrm>
            <a:off x="12638625" y="5763452"/>
            <a:ext cx="5449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Estensione non decide tutto: conta tipo + permessi</a:t>
            </a:r>
            <a:endParaRPr sz="931"/>
          </a:p>
        </p:txBody>
      </p:sp>
      <p:cxnSp>
        <p:nvCxnSpPr>
          <p:cNvPr id="237" name="Google Shape;237;p20"/>
          <p:cNvCxnSpPr/>
          <p:nvPr/>
        </p:nvCxnSpPr>
        <p:spPr>
          <a:xfrm rot="10800000">
            <a:off x="9390006" y="3097459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20"/>
          <p:cNvCxnSpPr/>
          <p:nvPr/>
        </p:nvCxnSpPr>
        <p:spPr>
          <a:xfrm rot="10800000">
            <a:off x="11944146" y="3097459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20"/>
          <p:cNvCxnSpPr/>
          <p:nvPr/>
        </p:nvCxnSpPr>
        <p:spPr>
          <a:xfrm rot="10800000">
            <a:off x="9390006" y="4489054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20"/>
          <p:cNvCxnSpPr/>
          <p:nvPr/>
        </p:nvCxnSpPr>
        <p:spPr>
          <a:xfrm rot="10800000">
            <a:off x="11944146" y="4489054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1" name="Google Shape;241;p20"/>
          <p:cNvCxnSpPr/>
          <p:nvPr/>
        </p:nvCxnSpPr>
        <p:spPr>
          <a:xfrm rot="10800000">
            <a:off x="9390006" y="5878200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2" name="Google Shape;242;p20"/>
          <p:cNvCxnSpPr/>
          <p:nvPr/>
        </p:nvCxnSpPr>
        <p:spPr>
          <a:xfrm rot="10800000">
            <a:off x="11944146" y="5878200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43" name="Google Shape;243;p20"/>
          <p:cNvGrpSpPr/>
          <p:nvPr/>
        </p:nvGrpSpPr>
        <p:grpSpPr>
          <a:xfrm>
            <a:off x="9915006" y="6595673"/>
            <a:ext cx="2029183" cy="821976"/>
            <a:chOff x="0" y="-47625"/>
            <a:chExt cx="802810" cy="325200"/>
          </a:xfrm>
        </p:grpSpPr>
        <p:sp>
          <p:nvSpPr>
            <p:cNvPr id="244" name="Google Shape;244;p20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20"/>
          <p:cNvGrpSpPr/>
          <p:nvPr/>
        </p:nvGrpSpPr>
        <p:grpSpPr>
          <a:xfrm>
            <a:off x="9915006" y="7964384"/>
            <a:ext cx="2029183" cy="821976"/>
            <a:chOff x="0" y="-47625"/>
            <a:chExt cx="802810" cy="325200"/>
          </a:xfrm>
        </p:grpSpPr>
        <p:sp>
          <p:nvSpPr>
            <p:cNvPr id="247" name="Google Shape;247;p20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FFF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19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20"/>
          <p:cNvSpPr txBox="1"/>
          <p:nvPr/>
        </p:nvSpPr>
        <p:spPr>
          <a:xfrm>
            <a:off x="8201656" y="8022903"/>
            <a:ext cx="13299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5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</a:t>
            </a:r>
            <a:r>
              <a:rPr lang="en-US" sz="5851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5</a:t>
            </a:r>
            <a:endParaRPr sz="931"/>
          </a:p>
        </p:txBody>
      </p:sp>
      <p:sp>
        <p:nvSpPr>
          <p:cNvPr id="250" name="Google Shape;250;p20"/>
          <p:cNvSpPr txBox="1"/>
          <p:nvPr/>
        </p:nvSpPr>
        <p:spPr>
          <a:xfrm>
            <a:off x="8201656" y="6659397"/>
            <a:ext cx="13299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851" u="none" cap="none" strike="noStrike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0</a:t>
            </a:r>
            <a:r>
              <a:rPr lang="en-US" sz="5851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4</a:t>
            </a:r>
            <a:endParaRPr sz="931"/>
          </a:p>
        </p:txBody>
      </p:sp>
      <p:sp>
        <p:nvSpPr>
          <p:cNvPr id="251" name="Google Shape;251;p20"/>
          <p:cNvSpPr txBox="1"/>
          <p:nvPr/>
        </p:nvSpPr>
        <p:spPr>
          <a:xfrm>
            <a:off x="10264675" y="6925875"/>
            <a:ext cx="1329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63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b="1" lang="en-US" sz="186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utto é file</a:t>
            </a:r>
            <a:endParaRPr sz="931"/>
          </a:p>
        </p:txBody>
      </p:sp>
      <p:sp>
        <p:nvSpPr>
          <p:cNvPr id="252" name="Google Shape;252;p20"/>
          <p:cNvSpPr txBox="1"/>
          <p:nvPr/>
        </p:nvSpPr>
        <p:spPr>
          <a:xfrm>
            <a:off x="10470186" y="8284745"/>
            <a:ext cx="918900" cy="2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63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utenti</a:t>
            </a:r>
            <a:endParaRPr sz="931"/>
          </a:p>
        </p:txBody>
      </p:sp>
      <p:sp>
        <p:nvSpPr>
          <p:cNvPr id="253" name="Google Shape;253;p20"/>
          <p:cNvSpPr txBox="1"/>
          <p:nvPr/>
        </p:nvSpPr>
        <p:spPr>
          <a:xfrm>
            <a:off x="12697400" y="6961301"/>
            <a:ext cx="5449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configurazioni, log, dispositivi</a:t>
            </a:r>
            <a:endParaRPr sz="931"/>
          </a:p>
        </p:txBody>
      </p:sp>
      <p:sp>
        <p:nvSpPr>
          <p:cNvPr id="254" name="Google Shape;254;p20"/>
          <p:cNvSpPr txBox="1"/>
          <p:nvPr/>
        </p:nvSpPr>
        <p:spPr>
          <a:xfrm>
            <a:off x="12697400" y="8358591"/>
            <a:ext cx="54495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43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8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owner / group / others</a:t>
            </a:r>
            <a:endParaRPr sz="931"/>
          </a:p>
        </p:txBody>
      </p:sp>
      <p:cxnSp>
        <p:nvCxnSpPr>
          <p:cNvPr id="255" name="Google Shape;255;p20"/>
          <p:cNvCxnSpPr/>
          <p:nvPr/>
        </p:nvCxnSpPr>
        <p:spPr>
          <a:xfrm rot="10800000">
            <a:off x="9390006" y="7066684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0"/>
          <p:cNvCxnSpPr/>
          <p:nvPr/>
        </p:nvCxnSpPr>
        <p:spPr>
          <a:xfrm rot="10800000">
            <a:off x="11944146" y="7066684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0"/>
          <p:cNvCxnSpPr/>
          <p:nvPr/>
        </p:nvCxnSpPr>
        <p:spPr>
          <a:xfrm rot="10800000">
            <a:off x="9390006" y="8458279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0"/>
          <p:cNvCxnSpPr/>
          <p:nvPr/>
        </p:nvCxnSpPr>
        <p:spPr>
          <a:xfrm rot="10800000">
            <a:off x="11944146" y="8458279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9" name="Google Shape;259;p20"/>
          <p:cNvCxnSpPr/>
          <p:nvPr/>
        </p:nvCxnSpPr>
        <p:spPr>
          <a:xfrm rot="10800000">
            <a:off x="9390006" y="9847425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0" name="Google Shape;260;p20"/>
          <p:cNvCxnSpPr/>
          <p:nvPr/>
        </p:nvCxnSpPr>
        <p:spPr>
          <a:xfrm rot="10800000">
            <a:off x="11944146" y="9847425"/>
            <a:ext cx="525000" cy="0"/>
          </a:xfrm>
          <a:prstGeom prst="straightConnector1">
            <a:avLst/>
          </a:prstGeom>
          <a:noFill/>
          <a:ln cap="flat" cmpd="sng" w="2535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1"/>
          <p:cNvSpPr/>
          <p:nvPr/>
        </p:nvSpPr>
        <p:spPr>
          <a:xfrm>
            <a:off x="1" y="-5144444"/>
            <a:ext cx="8170623" cy="8096345"/>
          </a:xfrm>
          <a:custGeom>
            <a:rect b="b" l="l" r="r" t="t"/>
            <a:pathLst>
              <a:path extrusionOk="0" h="8096345" w="8170623">
                <a:moveTo>
                  <a:pt x="0" y="0"/>
                </a:moveTo>
                <a:lnTo>
                  <a:pt x="8170623" y="0"/>
                </a:lnTo>
                <a:lnTo>
                  <a:pt x="8170623" y="8096344"/>
                </a:lnTo>
                <a:lnTo>
                  <a:pt x="0" y="8096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6" name="Google Shape;266;p21"/>
          <p:cNvSpPr txBox="1"/>
          <p:nvPr/>
        </p:nvSpPr>
        <p:spPr>
          <a:xfrm>
            <a:off x="2696877" y="754583"/>
            <a:ext cx="12894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2 modi per usarlo</a:t>
            </a: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3085651" y="2780086"/>
            <a:ext cx="2537710" cy="1919432"/>
          </a:xfrm>
          <a:custGeom>
            <a:rect b="b" l="l" r="r" t="t"/>
            <a:pathLst>
              <a:path extrusionOk="0" h="1919432" w="2537710">
                <a:moveTo>
                  <a:pt x="0" y="0"/>
                </a:moveTo>
                <a:lnTo>
                  <a:pt x="2537710" y="0"/>
                </a:lnTo>
                <a:lnTo>
                  <a:pt x="2537710" y="1919432"/>
                </a:lnTo>
                <a:lnTo>
                  <a:pt x="0" y="19194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8" name="Google Shape;268;p21"/>
          <p:cNvSpPr/>
          <p:nvPr/>
        </p:nvSpPr>
        <p:spPr>
          <a:xfrm>
            <a:off x="12191536" y="3464359"/>
            <a:ext cx="4661304" cy="550881"/>
          </a:xfrm>
          <a:custGeom>
            <a:rect b="b" l="l" r="r" t="t"/>
            <a:pathLst>
              <a:path extrusionOk="0" h="550881" w="4661304">
                <a:moveTo>
                  <a:pt x="0" y="0"/>
                </a:moveTo>
                <a:lnTo>
                  <a:pt x="4661304" y="0"/>
                </a:lnTo>
                <a:lnTo>
                  <a:pt x="4661304" y="550881"/>
                </a:lnTo>
                <a:lnTo>
                  <a:pt x="0" y="5508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21"/>
          <p:cNvSpPr/>
          <p:nvPr/>
        </p:nvSpPr>
        <p:spPr>
          <a:xfrm>
            <a:off x="11605525" y="2709528"/>
            <a:ext cx="2814138" cy="1831748"/>
          </a:xfrm>
          <a:custGeom>
            <a:rect b="b" l="l" r="r" t="t"/>
            <a:pathLst>
              <a:path extrusionOk="0" h="1831748" w="2814138">
                <a:moveTo>
                  <a:pt x="0" y="0"/>
                </a:moveTo>
                <a:lnTo>
                  <a:pt x="2814137" y="0"/>
                </a:lnTo>
                <a:lnTo>
                  <a:pt x="2814137" y="1831748"/>
                </a:lnTo>
                <a:lnTo>
                  <a:pt x="0" y="183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0" name="Google Shape;270;p21"/>
          <p:cNvSpPr txBox="1"/>
          <p:nvPr/>
        </p:nvSpPr>
        <p:spPr>
          <a:xfrm>
            <a:off x="144650" y="4916875"/>
            <a:ext cx="8178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Locale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9351700" y="4916875"/>
            <a:ext cx="8178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Remoto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1755750" y="6409775"/>
            <a:ext cx="51975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Linux installato / VM / WSL (Windows)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10841950" y="6409775"/>
            <a:ext cx="59592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vi collegate a una macchina del cluster via SSH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13527472" y="8669725"/>
            <a:ext cx="36852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Il vostro pc diventa una </a:t>
            </a: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tastiera</a:t>
            </a: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+schermo</a:t>
            </a:r>
            <a:endParaRPr/>
          </a:p>
        </p:txBody>
      </p:sp>
      <p:sp>
        <p:nvSpPr>
          <p:cNvPr id="275" name="Google Shape;275;p21"/>
          <p:cNvSpPr/>
          <p:nvPr/>
        </p:nvSpPr>
        <p:spPr>
          <a:xfrm>
            <a:off x="13962550" y="7575272"/>
            <a:ext cx="722042" cy="1047412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6" name="Google Shape;276;p21"/>
          <p:cNvSpPr txBox="1"/>
          <p:nvPr/>
        </p:nvSpPr>
        <p:spPr>
          <a:xfrm>
            <a:off x="650622" y="8622675"/>
            <a:ext cx="3685200" cy="10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Utile per fare i test ed imparare</a:t>
            </a:r>
            <a:endParaRPr/>
          </a:p>
        </p:txBody>
      </p:sp>
      <p:sp>
        <p:nvSpPr>
          <p:cNvPr id="277" name="Google Shape;277;p21"/>
          <p:cNvSpPr/>
          <p:nvPr/>
        </p:nvSpPr>
        <p:spPr>
          <a:xfrm flipH="1">
            <a:off x="3731958" y="7446051"/>
            <a:ext cx="722042" cy="1047412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2"/>
          <p:cNvSpPr/>
          <p:nvPr/>
        </p:nvSpPr>
        <p:spPr>
          <a:xfrm rot="-5400000">
            <a:off x="12448133" y="-8452958"/>
            <a:ext cx="11679733" cy="11679733"/>
          </a:xfrm>
          <a:custGeom>
            <a:rect b="b" l="l" r="r" t="t"/>
            <a:pathLst>
              <a:path extrusionOk="0" h="11679733" w="11679733">
                <a:moveTo>
                  <a:pt x="0" y="0"/>
                </a:moveTo>
                <a:lnTo>
                  <a:pt x="11679734" y="0"/>
                </a:lnTo>
                <a:lnTo>
                  <a:pt x="11679734" y="11679733"/>
                </a:lnTo>
                <a:lnTo>
                  <a:pt x="0" y="11679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3" name="Google Shape;283;p22"/>
          <p:cNvSpPr txBox="1"/>
          <p:nvPr/>
        </p:nvSpPr>
        <p:spPr>
          <a:xfrm>
            <a:off x="600850" y="952450"/>
            <a:ext cx="17331000" cy="3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96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SSH: entrare in un computer remoto</a:t>
            </a:r>
            <a:endParaRPr sz="9600">
              <a:solidFill>
                <a:srgbClr val="FFCA04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284" name="Google Shape;284;p22"/>
          <p:cNvSpPr/>
          <p:nvPr/>
        </p:nvSpPr>
        <p:spPr>
          <a:xfrm rot="5400000">
            <a:off x="12696644" y="4959660"/>
            <a:ext cx="1646688" cy="2338717"/>
          </a:xfrm>
          <a:custGeom>
            <a:rect b="b" l="l" r="r" t="t"/>
            <a:pathLst>
              <a:path extrusionOk="0" h="5285237" w="3920685">
                <a:moveTo>
                  <a:pt x="0" y="0"/>
                </a:moveTo>
                <a:lnTo>
                  <a:pt x="3920684" y="0"/>
                </a:lnTo>
                <a:lnTo>
                  <a:pt x="3920684" y="5285237"/>
                </a:lnTo>
                <a:lnTo>
                  <a:pt x="0" y="5285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5" name="Google Shape;285;p22"/>
          <p:cNvSpPr txBox="1"/>
          <p:nvPr/>
        </p:nvSpPr>
        <p:spPr>
          <a:xfrm>
            <a:off x="9984053" y="4760854"/>
            <a:ext cx="89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TU</a:t>
            </a:r>
            <a:endParaRPr sz="2800"/>
          </a:p>
        </p:txBody>
      </p:sp>
      <p:sp>
        <p:nvSpPr>
          <p:cNvPr id="286" name="Google Shape;286;p22"/>
          <p:cNvSpPr txBox="1"/>
          <p:nvPr/>
        </p:nvSpPr>
        <p:spPr>
          <a:xfrm>
            <a:off x="16554144" y="6856525"/>
            <a:ext cx="14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Server</a:t>
            </a:r>
            <a:endParaRPr sz="2800"/>
          </a:p>
        </p:txBody>
      </p:sp>
      <p:grpSp>
        <p:nvGrpSpPr>
          <p:cNvPr id="287" name="Google Shape;287;p22"/>
          <p:cNvGrpSpPr/>
          <p:nvPr/>
        </p:nvGrpSpPr>
        <p:grpSpPr>
          <a:xfrm>
            <a:off x="10757203" y="4989406"/>
            <a:ext cx="1804837" cy="489042"/>
            <a:chOff x="124" y="25128"/>
            <a:chExt cx="3706792" cy="1004400"/>
          </a:xfrm>
        </p:grpSpPr>
        <p:cxnSp>
          <p:nvCxnSpPr>
            <p:cNvPr id="288" name="Google Shape;288;p22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289" name="Google Shape;289;p22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0" name="Google Shape;290;p22"/>
          <p:cNvGrpSpPr/>
          <p:nvPr/>
        </p:nvGrpSpPr>
        <p:grpSpPr>
          <a:xfrm rot="10800000">
            <a:off x="14579777" y="6586750"/>
            <a:ext cx="1804837" cy="489042"/>
            <a:chOff x="124" y="25128"/>
            <a:chExt cx="3706792" cy="1004400"/>
          </a:xfrm>
        </p:grpSpPr>
        <p:cxnSp>
          <p:nvCxnSpPr>
            <p:cNvPr id="291" name="Google Shape;291;p22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292" name="Google Shape;292;p22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3" name="Google Shape;293;p22"/>
          <p:cNvSpPr txBox="1"/>
          <p:nvPr/>
        </p:nvSpPr>
        <p:spPr>
          <a:xfrm>
            <a:off x="13038694" y="4691650"/>
            <a:ext cx="14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Rete</a:t>
            </a:r>
            <a:endParaRPr sz="2800"/>
          </a:p>
        </p:txBody>
      </p:sp>
      <p:sp>
        <p:nvSpPr>
          <p:cNvPr id="294" name="Google Shape;294;p22"/>
          <p:cNvSpPr/>
          <p:nvPr/>
        </p:nvSpPr>
        <p:spPr>
          <a:xfrm flipH="1">
            <a:off x="296383" y="5098364"/>
            <a:ext cx="9687670" cy="3947417"/>
          </a:xfrm>
          <a:custGeom>
            <a:rect b="b" l="l" r="r" t="t"/>
            <a:pathLst>
              <a:path extrusionOk="0" h="1831748" w="2814138">
                <a:moveTo>
                  <a:pt x="0" y="0"/>
                </a:moveTo>
                <a:lnTo>
                  <a:pt x="2814137" y="0"/>
                </a:lnTo>
                <a:lnTo>
                  <a:pt x="2814137" y="1831748"/>
                </a:lnTo>
                <a:lnTo>
                  <a:pt x="0" y="183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5" name="Google Shape;295;p22"/>
          <p:cNvSpPr txBox="1"/>
          <p:nvPr/>
        </p:nvSpPr>
        <p:spPr>
          <a:xfrm>
            <a:off x="450000" y="5732700"/>
            <a:ext cx="10119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50">
                <a:solidFill>
                  <a:srgbClr val="39C026"/>
                </a:solidFill>
              </a:rPr>
              <a:t>lmb@lmb</a:t>
            </a:r>
            <a:r>
              <a:rPr b="1" lang="en-US" sz="3950">
                <a:solidFill>
                  <a:schemeClr val="dk1"/>
                </a:solidFill>
              </a:rPr>
              <a:t>:</a:t>
            </a:r>
            <a:r>
              <a:rPr b="1" lang="en-US" sz="3950">
                <a:solidFill>
                  <a:srgbClr val="5620F4"/>
                </a:solidFill>
              </a:rPr>
              <a:t>~</a:t>
            </a:r>
            <a:r>
              <a:rPr b="1" lang="en-US" sz="3950">
                <a:solidFill>
                  <a:schemeClr val="dk1"/>
                </a:solidFill>
              </a:rPr>
              <a:t>$ ssh utente@192.168.1.10</a:t>
            </a:r>
            <a:endParaRPr b="1" sz="3950">
              <a:solidFill>
                <a:schemeClr val="dk1"/>
              </a:solidFill>
            </a:endParaRPr>
          </a:p>
        </p:txBody>
      </p:sp>
      <p:sp>
        <p:nvSpPr>
          <p:cNvPr id="296" name="Google Shape;296;p22"/>
          <p:cNvSpPr txBox="1"/>
          <p:nvPr/>
        </p:nvSpPr>
        <p:spPr>
          <a:xfrm>
            <a:off x="10417249" y="7876388"/>
            <a:ext cx="7973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 “ritrovi” nel terminale della macchina remota</a:t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97" name="Google Shape;297;p22"/>
          <p:cNvSpPr txBox="1"/>
          <p:nvPr/>
        </p:nvSpPr>
        <p:spPr>
          <a:xfrm>
            <a:off x="10880150" y="8710750"/>
            <a:ext cx="70479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1" marL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 file e comandi che usi sono del server, non del tuo PC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"/>
          <p:cNvSpPr/>
          <p:nvPr/>
        </p:nvSpPr>
        <p:spPr>
          <a:xfrm rot="-5400000">
            <a:off x="12448133" y="-8452958"/>
            <a:ext cx="11679733" cy="11679733"/>
          </a:xfrm>
          <a:custGeom>
            <a:rect b="b" l="l" r="r" t="t"/>
            <a:pathLst>
              <a:path extrusionOk="0" h="11679733" w="11679733">
                <a:moveTo>
                  <a:pt x="0" y="0"/>
                </a:moveTo>
                <a:lnTo>
                  <a:pt x="11679734" y="0"/>
                </a:lnTo>
                <a:lnTo>
                  <a:pt x="11679734" y="11679733"/>
                </a:lnTo>
                <a:lnTo>
                  <a:pt x="0" y="116797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3" name="Google Shape;303;p23"/>
          <p:cNvSpPr txBox="1"/>
          <p:nvPr/>
        </p:nvSpPr>
        <p:spPr>
          <a:xfrm>
            <a:off x="600850" y="952450"/>
            <a:ext cx="1733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9599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tramite ssh puoi inviare file</a:t>
            </a:r>
            <a:endParaRPr sz="9599">
              <a:solidFill>
                <a:srgbClr val="FFCA04"/>
              </a:solidFill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304" name="Google Shape;304;p23"/>
          <p:cNvSpPr/>
          <p:nvPr/>
        </p:nvSpPr>
        <p:spPr>
          <a:xfrm rot="5400000">
            <a:off x="4945694" y="2554610"/>
            <a:ext cx="1646688" cy="2338717"/>
          </a:xfrm>
          <a:custGeom>
            <a:rect b="b" l="l" r="r" t="t"/>
            <a:pathLst>
              <a:path extrusionOk="0" h="5285237" w="3920685">
                <a:moveTo>
                  <a:pt x="0" y="0"/>
                </a:moveTo>
                <a:lnTo>
                  <a:pt x="3920684" y="0"/>
                </a:lnTo>
                <a:lnTo>
                  <a:pt x="3920684" y="5285237"/>
                </a:lnTo>
                <a:lnTo>
                  <a:pt x="0" y="52852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23"/>
          <p:cNvSpPr txBox="1"/>
          <p:nvPr/>
        </p:nvSpPr>
        <p:spPr>
          <a:xfrm>
            <a:off x="1828278" y="3129729"/>
            <a:ext cx="89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TU</a:t>
            </a:r>
            <a:endParaRPr sz="2800"/>
          </a:p>
        </p:txBody>
      </p:sp>
      <p:sp>
        <p:nvSpPr>
          <p:cNvPr id="306" name="Google Shape;306;p23"/>
          <p:cNvSpPr txBox="1"/>
          <p:nvPr/>
        </p:nvSpPr>
        <p:spPr>
          <a:xfrm>
            <a:off x="8803194" y="3641850"/>
            <a:ext cx="14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Server</a:t>
            </a:r>
            <a:endParaRPr sz="2800"/>
          </a:p>
        </p:txBody>
      </p:sp>
      <p:grpSp>
        <p:nvGrpSpPr>
          <p:cNvPr id="307" name="Google Shape;307;p23"/>
          <p:cNvGrpSpPr/>
          <p:nvPr/>
        </p:nvGrpSpPr>
        <p:grpSpPr>
          <a:xfrm>
            <a:off x="2794828" y="3429006"/>
            <a:ext cx="1804837" cy="489042"/>
            <a:chOff x="124" y="25128"/>
            <a:chExt cx="3706792" cy="1004400"/>
          </a:xfrm>
        </p:grpSpPr>
        <p:cxnSp>
          <p:nvCxnSpPr>
            <p:cNvPr id="308" name="Google Shape;308;p23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309" name="Google Shape;309;p23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10" name="Google Shape;310;p23"/>
          <p:cNvGrpSpPr/>
          <p:nvPr/>
        </p:nvGrpSpPr>
        <p:grpSpPr>
          <a:xfrm rot="10800000">
            <a:off x="6938402" y="3519637"/>
            <a:ext cx="1804837" cy="489042"/>
            <a:chOff x="124" y="25128"/>
            <a:chExt cx="3706792" cy="1004400"/>
          </a:xfrm>
        </p:grpSpPr>
        <p:cxnSp>
          <p:nvCxnSpPr>
            <p:cNvPr id="311" name="Google Shape;311;p23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312" name="Google Shape;312;p23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329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13" name="Google Shape;313;p23"/>
          <p:cNvSpPr txBox="1"/>
          <p:nvPr/>
        </p:nvSpPr>
        <p:spPr>
          <a:xfrm>
            <a:off x="5287744" y="2286600"/>
            <a:ext cx="1461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Rete</a:t>
            </a:r>
            <a:endParaRPr sz="2800"/>
          </a:p>
        </p:txBody>
      </p:sp>
      <p:sp>
        <p:nvSpPr>
          <p:cNvPr id="314" name="Google Shape;314;p23"/>
          <p:cNvSpPr/>
          <p:nvPr/>
        </p:nvSpPr>
        <p:spPr>
          <a:xfrm flipH="1">
            <a:off x="1030544" y="5162650"/>
            <a:ext cx="15569218" cy="2623979"/>
          </a:xfrm>
          <a:custGeom>
            <a:rect b="b" l="l" r="r" t="t"/>
            <a:pathLst>
              <a:path extrusionOk="0" h="1831748" w="2814138">
                <a:moveTo>
                  <a:pt x="0" y="0"/>
                </a:moveTo>
                <a:lnTo>
                  <a:pt x="2814137" y="0"/>
                </a:lnTo>
                <a:lnTo>
                  <a:pt x="2814137" y="1831748"/>
                </a:lnTo>
                <a:lnTo>
                  <a:pt x="0" y="18317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23"/>
          <p:cNvSpPr txBox="1"/>
          <p:nvPr/>
        </p:nvSpPr>
        <p:spPr>
          <a:xfrm>
            <a:off x="1181563" y="5796975"/>
            <a:ext cx="14653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50">
                <a:solidFill>
                  <a:srgbClr val="39C026"/>
                </a:solidFill>
              </a:rPr>
              <a:t>lmb@lmb</a:t>
            </a:r>
            <a:r>
              <a:rPr b="1" lang="en-US" sz="3950">
                <a:solidFill>
                  <a:schemeClr val="dk1"/>
                </a:solidFill>
              </a:rPr>
              <a:t>:</a:t>
            </a:r>
            <a:r>
              <a:rPr b="1" lang="en-US" sz="3950">
                <a:solidFill>
                  <a:srgbClr val="5620F4"/>
                </a:solidFill>
              </a:rPr>
              <a:t>~</a:t>
            </a:r>
            <a:r>
              <a:rPr b="1" lang="en-US" sz="3950">
                <a:solidFill>
                  <a:schemeClr val="dk1"/>
                </a:solidFill>
              </a:rPr>
              <a:t>$ scp ./file.txt utente@192.168.1.10:/home/lmb/</a:t>
            </a:r>
            <a:endParaRPr b="1" sz="3950">
              <a:solidFill>
                <a:schemeClr val="dk1"/>
              </a:solidFill>
            </a:endParaRPr>
          </a:p>
        </p:txBody>
      </p:sp>
      <p:pic>
        <p:nvPicPr>
          <p:cNvPr id="316" name="Google Shape;31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4875" y="3641838"/>
            <a:ext cx="682775" cy="68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80425" y="3087600"/>
            <a:ext cx="682775" cy="68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3"/>
          <p:cNvSpPr txBox="1"/>
          <p:nvPr/>
        </p:nvSpPr>
        <p:spPr>
          <a:xfrm>
            <a:off x="1181564" y="6675675"/>
            <a:ext cx="163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50">
                <a:solidFill>
                  <a:srgbClr val="39C026"/>
                </a:solidFill>
              </a:rPr>
              <a:t>lmb@lmb</a:t>
            </a:r>
            <a:r>
              <a:rPr b="1" lang="en-US" sz="3950">
                <a:solidFill>
                  <a:schemeClr val="dk1"/>
                </a:solidFill>
              </a:rPr>
              <a:t>:</a:t>
            </a:r>
            <a:r>
              <a:rPr b="1" lang="en-US" sz="3950">
                <a:solidFill>
                  <a:srgbClr val="5620F4"/>
                </a:solidFill>
              </a:rPr>
              <a:t>~</a:t>
            </a:r>
            <a:r>
              <a:rPr b="1" lang="en-US" sz="3950">
                <a:solidFill>
                  <a:schemeClr val="dk1"/>
                </a:solidFill>
              </a:rPr>
              <a:t>$ scp -r ./progetto utente@192.168.1.10:/home/lmb/</a:t>
            </a:r>
            <a:endParaRPr b="1" sz="3950">
              <a:solidFill>
                <a:schemeClr val="dk1"/>
              </a:solidFill>
            </a:endParaRPr>
          </a:p>
        </p:txBody>
      </p:sp>
      <p:sp>
        <p:nvSpPr>
          <p:cNvPr id="319" name="Google Shape;319;p23"/>
          <p:cNvSpPr txBox="1"/>
          <p:nvPr/>
        </p:nvSpPr>
        <p:spPr>
          <a:xfrm>
            <a:off x="2694401" y="9031225"/>
            <a:ext cx="131439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permette di copiare file o cartelle (con -r) dal proprio pc al server in un percorso specifico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/>
          <p:nvPr/>
        </p:nvSpPr>
        <p:spPr>
          <a:xfrm>
            <a:off x="14023143" y="-876640"/>
            <a:ext cx="5071856" cy="5071856"/>
          </a:xfrm>
          <a:custGeom>
            <a:rect b="b" l="l" r="r" t="t"/>
            <a:pathLst>
              <a:path extrusionOk="0" h="5071856" w="5071856">
                <a:moveTo>
                  <a:pt x="0" y="0"/>
                </a:moveTo>
                <a:lnTo>
                  <a:pt x="5071857" y="0"/>
                </a:lnTo>
                <a:lnTo>
                  <a:pt x="5071857" y="5071856"/>
                </a:lnTo>
                <a:lnTo>
                  <a:pt x="0" y="50718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5" name="Google Shape;32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1839" y="862500"/>
            <a:ext cx="13837235" cy="8553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4"/>
          <p:cNvSpPr txBox="1"/>
          <p:nvPr/>
        </p:nvSpPr>
        <p:spPr>
          <a:xfrm rot="-5400000">
            <a:off x="-1406551" y="2861394"/>
            <a:ext cx="6642300" cy="3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5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comandi base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179204" y="3217975"/>
            <a:ext cx="6922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latin typeface="Paytone One"/>
                <a:ea typeface="Paytone One"/>
                <a:cs typeface="Paytone One"/>
                <a:sym typeface="Paytone One"/>
              </a:rPr>
              <a:t>LINUX</a:t>
            </a:r>
            <a:endParaRPr b="1" sz="7200">
              <a:latin typeface="Paytone One"/>
              <a:ea typeface="Paytone One"/>
              <a:cs typeface="Paytone One"/>
              <a:sym typeface="Paytone One"/>
            </a:endParaRPr>
          </a:p>
        </p:txBody>
      </p:sp>
      <p:sp>
        <p:nvSpPr>
          <p:cNvPr id="328" name="Google Shape;328;p24"/>
          <p:cNvSpPr txBox="1"/>
          <p:nvPr/>
        </p:nvSpPr>
        <p:spPr>
          <a:xfrm>
            <a:off x="5686079" y="5616678"/>
            <a:ext cx="429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9904224" y="5694146"/>
            <a:ext cx="4525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5"/>
          <p:cNvSpPr txBox="1"/>
          <p:nvPr/>
        </p:nvSpPr>
        <p:spPr>
          <a:xfrm>
            <a:off x="1332000" y="800650"/>
            <a:ext cx="1562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Prima di tutto dove sono?</a:t>
            </a:r>
            <a:endParaRPr/>
          </a:p>
        </p:txBody>
      </p:sp>
      <p:sp>
        <p:nvSpPr>
          <p:cNvPr id="335" name="Google Shape;335;p25"/>
          <p:cNvSpPr txBox="1"/>
          <p:nvPr/>
        </p:nvSpPr>
        <p:spPr>
          <a:xfrm>
            <a:off x="1396882" y="2890400"/>
            <a:ext cx="272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Dove mi trovo ?</a:t>
            </a:r>
            <a:endParaRPr/>
          </a:p>
        </p:txBody>
      </p:sp>
      <p:sp>
        <p:nvSpPr>
          <p:cNvPr id="336" name="Google Shape;336;p25"/>
          <p:cNvSpPr txBox="1"/>
          <p:nvPr/>
        </p:nvSpPr>
        <p:spPr>
          <a:xfrm>
            <a:off x="14420431" y="2890400"/>
            <a:ext cx="29667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Cosa c'è qui?</a:t>
            </a:r>
            <a:endParaRPr/>
          </a:p>
        </p:txBody>
      </p:sp>
      <p:sp>
        <p:nvSpPr>
          <p:cNvPr id="337" name="Google Shape;337;p25"/>
          <p:cNvSpPr txBox="1"/>
          <p:nvPr/>
        </p:nvSpPr>
        <p:spPr>
          <a:xfrm>
            <a:off x="3629349" y="7594588"/>
            <a:ext cx="3554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come mi sposto ?</a:t>
            </a:r>
            <a:endParaRPr/>
          </a:p>
        </p:txBody>
      </p:sp>
      <p:sp>
        <p:nvSpPr>
          <p:cNvPr id="338" name="Google Shape;338;p25"/>
          <p:cNvSpPr txBox="1"/>
          <p:nvPr/>
        </p:nvSpPr>
        <p:spPr>
          <a:xfrm>
            <a:off x="878763" y="5079157"/>
            <a:ext cx="3764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restituisce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il percorso completo dalla route /</a:t>
            </a:r>
            <a:endParaRPr/>
          </a:p>
        </p:txBody>
      </p:sp>
      <p:grpSp>
        <p:nvGrpSpPr>
          <p:cNvPr id="339" name="Google Shape;339;p25"/>
          <p:cNvGrpSpPr/>
          <p:nvPr/>
        </p:nvGrpSpPr>
        <p:grpSpPr>
          <a:xfrm>
            <a:off x="4395364" y="3158874"/>
            <a:ext cx="2780188" cy="753369"/>
            <a:chOff x="0" y="25128"/>
            <a:chExt cx="3706917" cy="1004492"/>
          </a:xfrm>
        </p:grpSpPr>
        <p:cxnSp>
          <p:nvCxnSpPr>
            <p:cNvPr id="340" name="Google Shape;340;p25"/>
            <p:cNvCxnSpPr/>
            <p:nvPr/>
          </p:nvCxnSpPr>
          <p:spPr>
            <a:xfrm>
              <a:off x="1570616" y="25128"/>
              <a:ext cx="2136301" cy="1004492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341" name="Google Shape;341;p25"/>
            <p:cNvCxnSpPr/>
            <p:nvPr/>
          </p:nvCxnSpPr>
          <p:spPr>
            <a:xfrm rot="10800000">
              <a:off x="0" y="25400"/>
              <a:ext cx="1585624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2" name="Google Shape;342;p25"/>
          <p:cNvGrpSpPr/>
          <p:nvPr/>
        </p:nvGrpSpPr>
        <p:grpSpPr>
          <a:xfrm>
            <a:off x="11094288" y="3194920"/>
            <a:ext cx="2728535" cy="836077"/>
            <a:chOff x="11995" y="22390"/>
            <a:chExt cx="3638046" cy="1114769"/>
          </a:xfrm>
        </p:grpSpPr>
        <p:cxnSp>
          <p:nvCxnSpPr>
            <p:cNvPr id="343" name="Google Shape;343;p25"/>
            <p:cNvCxnSpPr/>
            <p:nvPr/>
          </p:nvCxnSpPr>
          <p:spPr>
            <a:xfrm flipH="1">
              <a:off x="11995" y="22390"/>
              <a:ext cx="2080883" cy="1114769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344" name="Google Shape;344;p25"/>
            <p:cNvCxnSpPr/>
            <p:nvPr/>
          </p:nvCxnSpPr>
          <p:spPr>
            <a:xfrm>
              <a:off x="2064417" y="25400"/>
              <a:ext cx="1585624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45" name="Google Shape;345;p25"/>
          <p:cNvGrpSpPr/>
          <p:nvPr/>
        </p:nvGrpSpPr>
        <p:grpSpPr>
          <a:xfrm rot="10800000">
            <a:off x="7183439" y="7026025"/>
            <a:ext cx="2728535" cy="836077"/>
            <a:chOff x="11995" y="22390"/>
            <a:chExt cx="3638046" cy="1114769"/>
          </a:xfrm>
        </p:grpSpPr>
        <p:cxnSp>
          <p:nvCxnSpPr>
            <p:cNvPr id="346" name="Google Shape;346;p25"/>
            <p:cNvCxnSpPr/>
            <p:nvPr/>
          </p:nvCxnSpPr>
          <p:spPr>
            <a:xfrm flipH="1">
              <a:off x="11995" y="22390"/>
              <a:ext cx="2080883" cy="1114769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347" name="Google Shape;347;p25"/>
            <p:cNvCxnSpPr/>
            <p:nvPr/>
          </p:nvCxnSpPr>
          <p:spPr>
            <a:xfrm>
              <a:off x="2064417" y="25400"/>
              <a:ext cx="1585624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48" name="Google Shape;348;p25"/>
          <p:cNvSpPr/>
          <p:nvPr/>
        </p:nvSpPr>
        <p:spPr>
          <a:xfrm>
            <a:off x="6700425" y="3534175"/>
            <a:ext cx="4650460" cy="3623021"/>
          </a:xfrm>
          <a:custGeom>
            <a:rect b="b" l="l" r="r" t="t"/>
            <a:pathLst>
              <a:path extrusionOk="0" h="2153356" w="2173112">
                <a:moveTo>
                  <a:pt x="0" y="0"/>
                </a:moveTo>
                <a:lnTo>
                  <a:pt x="2173112" y="0"/>
                </a:lnTo>
                <a:lnTo>
                  <a:pt x="2173112" y="2153356"/>
                </a:lnTo>
                <a:lnTo>
                  <a:pt x="0" y="21533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49" name="Google Shape;349;p25"/>
          <p:cNvGrpSpPr/>
          <p:nvPr/>
        </p:nvGrpSpPr>
        <p:grpSpPr>
          <a:xfrm>
            <a:off x="1746531" y="3860473"/>
            <a:ext cx="2029183" cy="821976"/>
            <a:chOff x="0" y="-47625"/>
            <a:chExt cx="802810" cy="325200"/>
          </a:xfrm>
        </p:grpSpPr>
        <p:sp>
          <p:nvSpPr>
            <p:cNvPr id="350" name="Google Shape;350;p25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5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pwd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52" name="Google Shape;352;p25"/>
          <p:cNvGrpSpPr/>
          <p:nvPr/>
        </p:nvGrpSpPr>
        <p:grpSpPr>
          <a:xfrm>
            <a:off x="14889181" y="3641735"/>
            <a:ext cx="2029183" cy="821976"/>
            <a:chOff x="0" y="-47625"/>
            <a:chExt cx="802810" cy="325200"/>
          </a:xfrm>
        </p:grpSpPr>
        <p:sp>
          <p:nvSpPr>
            <p:cNvPr id="353" name="Google Shape;353;p25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5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ls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55" name="Google Shape;355;p25"/>
          <p:cNvSpPr txBox="1"/>
          <p:nvPr/>
        </p:nvSpPr>
        <p:spPr>
          <a:xfrm>
            <a:off x="13951363" y="4966945"/>
            <a:ext cx="37647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restituisce lista file e cartelle del punto in cui ti trovi</a:t>
            </a:r>
            <a:endParaRPr/>
          </a:p>
        </p:txBody>
      </p:sp>
      <p:grpSp>
        <p:nvGrpSpPr>
          <p:cNvPr id="356" name="Google Shape;356;p25"/>
          <p:cNvGrpSpPr/>
          <p:nvPr/>
        </p:nvGrpSpPr>
        <p:grpSpPr>
          <a:xfrm>
            <a:off x="4272181" y="8426685"/>
            <a:ext cx="2029183" cy="821976"/>
            <a:chOff x="0" y="-47625"/>
            <a:chExt cx="802810" cy="325200"/>
          </a:xfrm>
        </p:grpSpPr>
        <p:sp>
          <p:nvSpPr>
            <p:cNvPr id="357" name="Google Shape;357;p25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5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cd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359" name="Google Shape;359;p25"/>
          <p:cNvSpPr txBox="1"/>
          <p:nvPr/>
        </p:nvSpPr>
        <p:spPr>
          <a:xfrm>
            <a:off x="7497738" y="8551520"/>
            <a:ext cx="3764700" cy="11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 permette di andare avanti tornare 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indietro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o saltare in una alta parte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6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pwd</a:t>
            </a:r>
            <a:endParaRPr/>
          </a:p>
        </p:txBody>
      </p:sp>
      <p:sp>
        <p:nvSpPr>
          <p:cNvPr id="365" name="Google Shape;365;p26"/>
          <p:cNvSpPr/>
          <p:nvPr/>
        </p:nvSpPr>
        <p:spPr>
          <a:xfrm>
            <a:off x="771716" y="2127974"/>
            <a:ext cx="1081232" cy="1172934"/>
          </a:xfrm>
          <a:custGeom>
            <a:rect b="b" l="l" r="r" t="t"/>
            <a:pathLst>
              <a:path extrusionOk="0" h="1172934" w="1081232">
                <a:moveTo>
                  <a:pt x="0" y="0"/>
                </a:moveTo>
                <a:lnTo>
                  <a:pt x="1081232" y="0"/>
                </a:lnTo>
                <a:lnTo>
                  <a:pt x="1081232" y="1172934"/>
                </a:lnTo>
                <a:lnTo>
                  <a:pt x="0" y="117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6" name="Google Shape;366;p26"/>
          <p:cNvSpPr txBox="1"/>
          <p:nvPr/>
        </p:nvSpPr>
        <p:spPr>
          <a:xfrm>
            <a:off x="2346925" y="2121788"/>
            <a:ext cx="14472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significa print working directory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367" name="Google Shape;367;p26"/>
          <p:cNvSpPr txBox="1"/>
          <p:nvPr/>
        </p:nvSpPr>
        <p:spPr>
          <a:xfrm>
            <a:off x="2839175" y="4743175"/>
            <a:ext cx="12934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Ti dice il percorso completo (assoluto) della cartella corrente</a:t>
            </a:r>
            <a:endParaRPr sz="2600"/>
          </a:p>
        </p:txBody>
      </p:sp>
      <p:sp>
        <p:nvSpPr>
          <p:cNvPr id="368" name="Google Shape;368;p26"/>
          <p:cNvSpPr/>
          <p:nvPr/>
        </p:nvSpPr>
        <p:spPr>
          <a:xfrm>
            <a:off x="3204550" y="468231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9" name="Google Shape;369;p26"/>
          <p:cNvSpPr/>
          <p:nvPr/>
        </p:nvSpPr>
        <p:spPr>
          <a:xfrm>
            <a:off x="1486599" y="5765326"/>
            <a:ext cx="5803937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0" name="Google Shape;370;p26"/>
          <p:cNvSpPr/>
          <p:nvPr/>
        </p:nvSpPr>
        <p:spPr>
          <a:xfrm>
            <a:off x="1517325" y="6345725"/>
            <a:ext cx="57456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6"/>
          <p:cNvSpPr txBox="1"/>
          <p:nvPr/>
        </p:nvSpPr>
        <p:spPr>
          <a:xfrm>
            <a:off x="1738450" y="6441000"/>
            <a:ext cx="5289300" cy="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lang="en-US" sz="2150">
                <a:solidFill>
                  <a:schemeClr val="dk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~/micro-y-hub</a:t>
            </a:r>
            <a:r>
              <a:rPr lang="en-US" sz="2150">
                <a:solidFill>
                  <a:schemeClr val="dk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 pwd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</a:rPr>
              <a:t>/home/lmb/micro-y-hub</a:t>
            </a:r>
            <a:endParaRPr sz="2150">
              <a:solidFill>
                <a:schemeClr val="lt1"/>
              </a:solidFill>
            </a:endParaRPr>
          </a:p>
        </p:txBody>
      </p:sp>
      <p:sp>
        <p:nvSpPr>
          <p:cNvPr id="372" name="Google Shape;372;p26"/>
          <p:cNvSpPr txBox="1"/>
          <p:nvPr/>
        </p:nvSpPr>
        <p:spPr>
          <a:xfrm>
            <a:off x="9032775" y="6950800"/>
            <a:ext cx="129348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evita di lavorare nella cartella sbagliata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 ti aiuta a capire percorsi assoluti vs relativi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ls</a:t>
            </a:r>
            <a:endParaRPr/>
          </a:p>
        </p:txBody>
      </p:sp>
      <p:sp>
        <p:nvSpPr>
          <p:cNvPr id="378" name="Google Shape;378;p27"/>
          <p:cNvSpPr/>
          <p:nvPr/>
        </p:nvSpPr>
        <p:spPr>
          <a:xfrm>
            <a:off x="3847941" y="2127987"/>
            <a:ext cx="1081232" cy="1172934"/>
          </a:xfrm>
          <a:custGeom>
            <a:rect b="b" l="l" r="r" t="t"/>
            <a:pathLst>
              <a:path extrusionOk="0" h="1172934" w="1081232">
                <a:moveTo>
                  <a:pt x="0" y="0"/>
                </a:moveTo>
                <a:lnTo>
                  <a:pt x="1081232" y="0"/>
                </a:lnTo>
                <a:lnTo>
                  <a:pt x="1081232" y="1172934"/>
                </a:lnTo>
                <a:lnTo>
                  <a:pt x="0" y="117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9" name="Google Shape;379;p27"/>
          <p:cNvSpPr txBox="1"/>
          <p:nvPr/>
        </p:nvSpPr>
        <p:spPr>
          <a:xfrm>
            <a:off x="2346925" y="2121788"/>
            <a:ext cx="14472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abbreviazione di list 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380" name="Google Shape;380;p27"/>
          <p:cNvSpPr txBox="1"/>
          <p:nvPr/>
        </p:nvSpPr>
        <p:spPr>
          <a:xfrm>
            <a:off x="3115525" y="4107125"/>
            <a:ext cx="12934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Serve ad </a:t>
            </a: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elencare il contenuto della cartella corrente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1" name="Google Shape;381;p27"/>
          <p:cNvSpPr/>
          <p:nvPr/>
        </p:nvSpPr>
        <p:spPr>
          <a:xfrm>
            <a:off x="3997324" y="404626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2" name="Google Shape;382;p27"/>
          <p:cNvSpPr/>
          <p:nvPr/>
        </p:nvSpPr>
        <p:spPr>
          <a:xfrm>
            <a:off x="1486599" y="5504376"/>
            <a:ext cx="5803937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3" name="Google Shape;383;p27"/>
          <p:cNvSpPr/>
          <p:nvPr/>
        </p:nvSpPr>
        <p:spPr>
          <a:xfrm>
            <a:off x="1517325" y="6084775"/>
            <a:ext cx="57456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 txBox="1"/>
          <p:nvPr/>
        </p:nvSpPr>
        <p:spPr>
          <a:xfrm>
            <a:off x="1725400" y="6084775"/>
            <a:ext cx="5444400" cy="27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lang="en-US" sz="2150">
                <a:solidFill>
                  <a:schemeClr val="dk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~/micro-y-hub</a:t>
            </a:r>
            <a:r>
              <a:rPr lang="en-US" sz="2150">
                <a:solidFill>
                  <a:schemeClr val="dk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 ls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5620F4"/>
                </a:solidFill>
              </a:rPr>
              <a:t>backend</a:t>
            </a:r>
            <a:r>
              <a:rPr lang="en-US" sz="2150">
                <a:solidFill>
                  <a:schemeClr val="lt1"/>
                </a:solidFill>
              </a:rPr>
              <a:t>                </a:t>
            </a:r>
            <a:r>
              <a:rPr lang="en-US" sz="2150">
                <a:solidFill>
                  <a:srgbClr val="5620F4"/>
                </a:solidFill>
              </a:rPr>
              <a:t>docs</a:t>
            </a:r>
            <a:r>
              <a:rPr lang="en-US" sz="2150">
                <a:solidFill>
                  <a:schemeClr val="lt1"/>
                </a:solidFill>
              </a:rPr>
              <a:t>                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</a:rPr>
              <a:t>bun.lockb              eslint.config.js     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</a:rPr>
              <a:t>components.json  index.html          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</a:rPr>
              <a:t>README.md        tsconfig.app.json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5620F4"/>
                </a:solidFill>
              </a:rPr>
              <a:t>docker</a:t>
            </a:r>
            <a:r>
              <a:rPr lang="en-US" sz="2150">
                <a:solidFill>
                  <a:schemeClr val="lt1"/>
                </a:solidFill>
              </a:rPr>
              <a:t>                   node_modules        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5620F4"/>
                </a:solidFill>
              </a:rPr>
              <a:t>scripts</a:t>
            </a:r>
            <a:r>
              <a:rPr lang="en-US" sz="2150">
                <a:solidFill>
                  <a:schemeClr val="lt1"/>
                </a:solidFill>
              </a:rPr>
              <a:t>                   tsconfig.json</a:t>
            </a:r>
            <a:endParaRPr sz="2150">
              <a:solidFill>
                <a:schemeClr val="lt1"/>
              </a:solidFill>
            </a:endParaRPr>
          </a:p>
        </p:txBody>
      </p:sp>
      <p:sp>
        <p:nvSpPr>
          <p:cNvPr id="385" name="Google Shape;385;p27"/>
          <p:cNvSpPr txBox="1"/>
          <p:nvPr/>
        </p:nvSpPr>
        <p:spPr>
          <a:xfrm>
            <a:off x="8693525" y="5563925"/>
            <a:ext cx="9143100" cy="39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ls -l → dettagli (permessi, owner, dimensione, data)</a:t>
            </a:r>
            <a:b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ls -a → include file nascosti (.config, .ssh…)</a:t>
            </a:r>
            <a:b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ls -h → dimensioni “umane” (KB, MB…)</a:t>
            </a:r>
            <a:b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ls -lah → combo tipica per lavorare bene</a:t>
            </a:r>
            <a:b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8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cd</a:t>
            </a:r>
            <a:endParaRPr/>
          </a:p>
        </p:txBody>
      </p:sp>
      <p:sp>
        <p:nvSpPr>
          <p:cNvPr id="391" name="Google Shape;391;p28"/>
          <p:cNvSpPr txBox="1"/>
          <p:nvPr/>
        </p:nvSpPr>
        <p:spPr>
          <a:xfrm>
            <a:off x="2346925" y="2121788"/>
            <a:ext cx="14472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significa change directory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392" name="Google Shape;392;p28"/>
          <p:cNvSpPr/>
          <p:nvPr/>
        </p:nvSpPr>
        <p:spPr>
          <a:xfrm>
            <a:off x="1964791" y="2121812"/>
            <a:ext cx="1081232" cy="1172934"/>
          </a:xfrm>
          <a:custGeom>
            <a:rect b="b" l="l" r="r" t="t"/>
            <a:pathLst>
              <a:path extrusionOk="0" h="1172934" w="1081232">
                <a:moveTo>
                  <a:pt x="0" y="0"/>
                </a:moveTo>
                <a:lnTo>
                  <a:pt x="1081232" y="0"/>
                </a:lnTo>
                <a:lnTo>
                  <a:pt x="1081232" y="1172934"/>
                </a:lnTo>
                <a:lnTo>
                  <a:pt x="0" y="117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3" name="Google Shape;393;p28"/>
          <p:cNvSpPr txBox="1"/>
          <p:nvPr/>
        </p:nvSpPr>
        <p:spPr>
          <a:xfrm>
            <a:off x="2676600" y="4107125"/>
            <a:ext cx="12934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Serve per navigare nel file system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5278274" y="404626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5" name="Google Shape;395;p28"/>
          <p:cNvSpPr/>
          <p:nvPr/>
        </p:nvSpPr>
        <p:spPr>
          <a:xfrm>
            <a:off x="1486599" y="5765326"/>
            <a:ext cx="5803937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6" name="Google Shape;396;p28"/>
          <p:cNvSpPr/>
          <p:nvPr/>
        </p:nvSpPr>
        <p:spPr>
          <a:xfrm>
            <a:off x="1517325" y="6345725"/>
            <a:ext cx="57456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8"/>
          <p:cNvSpPr txBox="1"/>
          <p:nvPr/>
        </p:nvSpPr>
        <p:spPr>
          <a:xfrm>
            <a:off x="1725400" y="6345725"/>
            <a:ext cx="5444400" cy="24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lang="en-US" sz="2150">
                <a:solidFill>
                  <a:schemeClr val="dk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~/micro-y-hub</a:t>
            </a:r>
            <a:r>
              <a:rPr lang="en-US" sz="2150">
                <a:solidFill>
                  <a:schemeClr val="lt1"/>
                </a:solidFill>
              </a:rPr>
              <a:t>$</a:t>
            </a:r>
            <a:r>
              <a:rPr lang="en-US" sz="2150">
                <a:solidFill>
                  <a:schemeClr val="dk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cd backend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b="1" lang="en-US" sz="2150">
                <a:solidFill>
                  <a:schemeClr val="lt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~/micro-y-hub/backend</a:t>
            </a:r>
            <a:r>
              <a:rPr lang="en-US" sz="2150">
                <a:solidFill>
                  <a:schemeClr val="lt1"/>
                </a:solidFill>
              </a:rPr>
              <a:t>$ ls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</a:rPr>
              <a:t>app  db  Dockerfile  requirements.txt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b="1" lang="en-US" sz="2150">
                <a:solidFill>
                  <a:schemeClr val="lt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~/micro-y-hub/backend</a:t>
            </a:r>
            <a:r>
              <a:rPr lang="en-US" sz="2150">
                <a:solidFill>
                  <a:schemeClr val="lt1"/>
                </a:solidFill>
              </a:rPr>
              <a:t>$ cd 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b="1" lang="en-US" sz="2150">
                <a:solidFill>
                  <a:schemeClr val="lt1"/>
                </a:solidFill>
              </a:rPr>
              <a:t>:</a:t>
            </a:r>
            <a:r>
              <a:rPr lang="en-US" sz="2150">
                <a:solidFill>
                  <a:srgbClr val="5620F4"/>
                </a:solidFill>
              </a:rPr>
              <a:t>~</a:t>
            </a:r>
            <a:r>
              <a:rPr lang="en-US" sz="2150">
                <a:solidFill>
                  <a:schemeClr val="lt1"/>
                </a:solidFill>
              </a:rPr>
              <a:t>$ pwd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chemeClr val="lt1"/>
                </a:solidFill>
              </a:rPr>
              <a:t>/home/lmb</a:t>
            </a:r>
            <a:endParaRPr sz="2150">
              <a:solidFill>
                <a:schemeClr val="lt1"/>
              </a:solidFill>
            </a:endParaRPr>
          </a:p>
        </p:txBody>
      </p:sp>
      <p:sp>
        <p:nvSpPr>
          <p:cNvPr id="398" name="Google Shape;398;p28"/>
          <p:cNvSpPr txBox="1"/>
          <p:nvPr/>
        </p:nvSpPr>
        <p:spPr>
          <a:xfrm>
            <a:off x="8589150" y="5576975"/>
            <a:ext cx="91431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cd cartella → entra in una cartella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cd .. → sali di un livello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cd → torna alla home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cd - → torna alla cartella precedente (toggle)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 txBox="1"/>
          <p:nvPr/>
        </p:nvSpPr>
        <p:spPr>
          <a:xfrm>
            <a:off x="1332000" y="800650"/>
            <a:ext cx="1562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Un bel casino le cartelle</a:t>
            </a:r>
            <a:endParaRPr/>
          </a:p>
        </p:txBody>
      </p:sp>
      <p:sp>
        <p:nvSpPr>
          <p:cNvPr id="404" name="Google Shape;404;p29"/>
          <p:cNvSpPr/>
          <p:nvPr/>
        </p:nvSpPr>
        <p:spPr>
          <a:xfrm>
            <a:off x="391426" y="3017058"/>
            <a:ext cx="5419872" cy="5973891"/>
          </a:xfrm>
          <a:custGeom>
            <a:rect b="b" l="l" r="r" t="t"/>
            <a:pathLst>
              <a:path extrusionOk="0" h="2814554" w="2369343">
                <a:moveTo>
                  <a:pt x="0" y="0"/>
                </a:moveTo>
                <a:lnTo>
                  <a:pt x="2369343" y="0"/>
                </a:lnTo>
                <a:lnTo>
                  <a:pt x="2369343" y="2814554"/>
                </a:lnTo>
                <a:lnTo>
                  <a:pt x="0" y="28145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5" name="Google Shape;405;p29"/>
          <p:cNvSpPr txBox="1"/>
          <p:nvPr/>
        </p:nvSpPr>
        <p:spPr>
          <a:xfrm>
            <a:off x="6361525" y="3145050"/>
            <a:ext cx="9143100" cy="60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3349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2437"/>
              <a:buFont typeface="Lato"/>
              <a:buChar char="●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</a:t>
            </a:r>
            <a:r>
              <a:rPr b="1"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/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radice (root) del filesystem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334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2437"/>
              <a:buFont typeface="Lato"/>
              <a:buChar char="●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/home/&lt;utente&gt;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i vostri file (zona “sicura”)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334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2437"/>
              <a:buFont typeface="Lato"/>
              <a:buChar char="●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/tmp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temporanei (possono sparire / pulizia automatica)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334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2437"/>
              <a:buFont typeface="Lato"/>
              <a:buChar char="●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/etc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configurazioni di sistema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334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2437"/>
              <a:buFont typeface="Lato"/>
              <a:buChar char="●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/var/log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log (diagnostica, errori)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383349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2437"/>
              <a:buFont typeface="Lato"/>
              <a:buChar char="●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/bin, /usr/bin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programmi/comandi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0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mkdir</a:t>
            </a:r>
            <a:endParaRPr/>
          </a:p>
        </p:txBody>
      </p:sp>
      <p:sp>
        <p:nvSpPr>
          <p:cNvPr id="411" name="Google Shape;411;p30"/>
          <p:cNvSpPr txBox="1"/>
          <p:nvPr/>
        </p:nvSpPr>
        <p:spPr>
          <a:xfrm>
            <a:off x="2346925" y="2121788"/>
            <a:ext cx="144720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significa make directory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12" name="Google Shape;412;p30"/>
          <p:cNvSpPr/>
          <p:nvPr/>
        </p:nvSpPr>
        <p:spPr>
          <a:xfrm>
            <a:off x="1964791" y="2121812"/>
            <a:ext cx="1081232" cy="1172934"/>
          </a:xfrm>
          <a:custGeom>
            <a:rect b="b" l="l" r="r" t="t"/>
            <a:pathLst>
              <a:path extrusionOk="0" h="1172934" w="1081232">
                <a:moveTo>
                  <a:pt x="0" y="0"/>
                </a:moveTo>
                <a:lnTo>
                  <a:pt x="1081232" y="0"/>
                </a:lnTo>
                <a:lnTo>
                  <a:pt x="1081232" y="1172934"/>
                </a:lnTo>
                <a:lnTo>
                  <a:pt x="0" y="11729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3" name="Google Shape;413;p30"/>
          <p:cNvSpPr txBox="1"/>
          <p:nvPr/>
        </p:nvSpPr>
        <p:spPr>
          <a:xfrm>
            <a:off x="2676600" y="4107125"/>
            <a:ext cx="12934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Serve per creare una nuova cartella o piú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4851299" y="404626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5" name="Google Shape;415;p30"/>
          <p:cNvSpPr/>
          <p:nvPr/>
        </p:nvSpPr>
        <p:spPr>
          <a:xfrm>
            <a:off x="1486599" y="5765326"/>
            <a:ext cx="5803937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6" name="Google Shape;416;p30"/>
          <p:cNvSpPr/>
          <p:nvPr/>
        </p:nvSpPr>
        <p:spPr>
          <a:xfrm>
            <a:off x="1517325" y="6345725"/>
            <a:ext cx="57456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0"/>
          <p:cNvSpPr txBox="1"/>
          <p:nvPr/>
        </p:nvSpPr>
        <p:spPr>
          <a:xfrm>
            <a:off x="1725400" y="6345725"/>
            <a:ext cx="5444400" cy="27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lang="en-US" sz="2150">
                <a:solidFill>
                  <a:schemeClr val="dk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</a:t>
            </a:r>
            <a:r>
              <a:rPr b="1" lang="en-US" sz="2150">
                <a:solidFill>
                  <a:schemeClr val="lt1"/>
                </a:solidFill>
              </a:rPr>
              <a:t>$</a:t>
            </a:r>
            <a:r>
              <a:rPr lang="en-US" sz="2150">
                <a:solidFill>
                  <a:schemeClr val="dk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ls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5620F4"/>
                </a:solidFill>
              </a:rPr>
              <a:t>gestionale  micro-y-hub</a:t>
            </a:r>
            <a:r>
              <a:rPr lang="en-US" sz="2150">
                <a:solidFill>
                  <a:schemeClr val="lt1"/>
                </a:solidFill>
              </a:rPr>
              <a:t>   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b="1" lang="en-US" sz="2150">
                <a:solidFill>
                  <a:schemeClr val="lt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</a:t>
            </a:r>
            <a:r>
              <a:rPr b="1" lang="en-US" sz="2150">
                <a:solidFill>
                  <a:schemeClr val="lt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 mkdir -p progetto/{input,output,log}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b="1" lang="en-US" sz="2150">
                <a:solidFill>
                  <a:schemeClr val="lt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</a:t>
            </a:r>
            <a:r>
              <a:rPr b="1" lang="en-US" sz="2150">
                <a:solidFill>
                  <a:schemeClr val="lt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 cd progetto/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50">
                <a:solidFill>
                  <a:srgbClr val="39C026"/>
                </a:solidFill>
              </a:rPr>
              <a:t>lmb@lmb</a:t>
            </a:r>
            <a:r>
              <a:rPr b="1" lang="en-US" sz="2150">
                <a:solidFill>
                  <a:schemeClr val="lt1"/>
                </a:solidFill>
              </a:rPr>
              <a:t>:</a:t>
            </a:r>
            <a:r>
              <a:rPr b="1" lang="en-US" sz="2150">
                <a:solidFill>
                  <a:srgbClr val="5620F4"/>
                </a:solidFill>
              </a:rPr>
              <a:t>~/progetto</a:t>
            </a:r>
            <a:r>
              <a:rPr b="1" lang="en-US" sz="2150">
                <a:solidFill>
                  <a:schemeClr val="lt1"/>
                </a:solidFill>
              </a:rPr>
              <a:t>$</a:t>
            </a:r>
            <a:r>
              <a:rPr lang="en-US" sz="2150">
                <a:solidFill>
                  <a:schemeClr val="lt1"/>
                </a:solidFill>
              </a:rPr>
              <a:t> ls</a:t>
            </a:r>
            <a:endParaRPr sz="21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5620F4"/>
                </a:solidFill>
              </a:rPr>
              <a:t>input  log  output</a:t>
            </a:r>
            <a:endParaRPr sz="2150">
              <a:solidFill>
                <a:srgbClr val="5620F4"/>
              </a:solidFill>
            </a:endParaRPr>
          </a:p>
        </p:txBody>
      </p:sp>
      <p:sp>
        <p:nvSpPr>
          <p:cNvPr id="418" name="Google Shape;418;p30"/>
          <p:cNvSpPr txBox="1"/>
          <p:nvPr/>
        </p:nvSpPr>
        <p:spPr>
          <a:xfrm>
            <a:off x="7550450" y="6250300"/>
            <a:ext cx="89337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mkdir nome_cartella → crea una cartella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mkdir -p nome_cartella/a </a:t>
            </a:r>
            <a:r>
              <a:rPr lang="en-US" sz="24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nome_cartella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/b </a:t>
            </a:r>
            <a:r>
              <a:rPr lang="en-US" sz="24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nome_cartella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/c → crea anche le cartelle “intermedie” se non esistono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31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creare un file </a:t>
            </a:r>
            <a:endParaRPr/>
          </a:p>
        </p:txBody>
      </p:sp>
      <p:sp>
        <p:nvSpPr>
          <p:cNvPr id="424" name="Google Shape;424;p31"/>
          <p:cNvSpPr txBox="1"/>
          <p:nvPr/>
        </p:nvSpPr>
        <p:spPr>
          <a:xfrm>
            <a:off x="967250" y="2524900"/>
            <a:ext cx="6583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touch 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25" name="Google Shape;425;p31"/>
          <p:cNvSpPr txBox="1"/>
          <p:nvPr/>
        </p:nvSpPr>
        <p:spPr>
          <a:xfrm>
            <a:off x="-1391862" y="4715800"/>
            <a:ext cx="12934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Serve per creare una nuova file 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4347762" y="3887693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31"/>
          <p:cNvSpPr/>
          <p:nvPr/>
        </p:nvSpPr>
        <p:spPr>
          <a:xfrm>
            <a:off x="1379025" y="5765325"/>
            <a:ext cx="6455607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8" name="Google Shape;428;p31"/>
          <p:cNvSpPr/>
          <p:nvPr/>
        </p:nvSpPr>
        <p:spPr>
          <a:xfrm>
            <a:off x="1379025" y="6345725"/>
            <a:ext cx="6485700" cy="3065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1"/>
          <p:cNvSpPr txBox="1"/>
          <p:nvPr/>
        </p:nvSpPr>
        <p:spPr>
          <a:xfrm>
            <a:off x="1379000" y="6345725"/>
            <a:ext cx="64857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9C026"/>
                </a:solidFill>
              </a:rPr>
              <a:t>lmb@lmb</a:t>
            </a:r>
            <a:r>
              <a:rPr b="1" lang="en-US" sz="1900">
                <a:solidFill>
                  <a:schemeClr val="lt1"/>
                </a:solidFill>
              </a:rPr>
              <a:t>:</a:t>
            </a:r>
            <a:r>
              <a:rPr b="1" lang="en-US" sz="1900">
                <a:solidFill>
                  <a:srgbClr val="5620F4"/>
                </a:solidFill>
              </a:rPr>
              <a:t>~/progetto/input</a:t>
            </a:r>
            <a:r>
              <a:rPr b="1" lang="en-US" sz="1900">
                <a:solidFill>
                  <a:schemeClr val="lt1"/>
                </a:solidFill>
              </a:rPr>
              <a:t>$ </a:t>
            </a:r>
            <a:r>
              <a:rPr lang="en-US" sz="1900">
                <a:solidFill>
                  <a:schemeClr val="lt1"/>
                </a:solidFill>
              </a:rPr>
              <a:t>touch readme.md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9C026"/>
                </a:solidFill>
              </a:rPr>
              <a:t>lmb@lmb</a:t>
            </a:r>
            <a:r>
              <a:rPr b="1" lang="en-US" sz="1900">
                <a:solidFill>
                  <a:schemeClr val="lt1"/>
                </a:solidFill>
              </a:rPr>
              <a:t>:</a:t>
            </a:r>
            <a:r>
              <a:rPr b="1" lang="en-US" sz="1900">
                <a:solidFill>
                  <a:srgbClr val="5620F4"/>
                </a:solidFill>
              </a:rPr>
              <a:t>~/progetto/input</a:t>
            </a:r>
            <a:r>
              <a:rPr b="1" lang="en-US" sz="1900">
                <a:solidFill>
                  <a:schemeClr val="lt1"/>
                </a:solidFill>
              </a:rPr>
              <a:t>$</a:t>
            </a:r>
            <a:r>
              <a:rPr lang="en-US" sz="1900">
                <a:solidFill>
                  <a:schemeClr val="lt1"/>
                </a:solidFill>
              </a:rPr>
              <a:t> ls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lt1"/>
                </a:solidFill>
              </a:rPr>
              <a:t>readme.md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9C026"/>
                </a:solidFill>
              </a:rPr>
              <a:t>lmb@lmb</a:t>
            </a:r>
            <a:r>
              <a:rPr b="1" lang="en-US" sz="1900">
                <a:solidFill>
                  <a:schemeClr val="lt1"/>
                </a:solidFill>
              </a:rPr>
              <a:t>:</a:t>
            </a:r>
            <a:r>
              <a:rPr b="1" lang="en-US" sz="1900">
                <a:solidFill>
                  <a:srgbClr val="5620F4"/>
                </a:solidFill>
              </a:rPr>
              <a:t>~/progetto/input</a:t>
            </a:r>
            <a:r>
              <a:rPr b="1" lang="en-US" sz="1900">
                <a:solidFill>
                  <a:schemeClr val="lt1"/>
                </a:solidFill>
              </a:rPr>
              <a:t>$</a:t>
            </a:r>
            <a:r>
              <a:rPr lang="en-US" sz="1900">
                <a:solidFill>
                  <a:schemeClr val="lt1"/>
                </a:solidFill>
              </a:rPr>
              <a:t> echo "ciao" &gt; readme.md </a:t>
            </a:r>
            <a:endParaRPr sz="19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39C026"/>
                </a:solidFill>
              </a:rPr>
              <a:t>lmb@lmb</a:t>
            </a:r>
            <a:r>
              <a:rPr b="1" lang="en-US" sz="1900">
                <a:solidFill>
                  <a:schemeClr val="lt1"/>
                </a:solidFill>
              </a:rPr>
              <a:t>:</a:t>
            </a:r>
            <a:r>
              <a:rPr b="1" lang="en-US" sz="1900">
                <a:solidFill>
                  <a:srgbClr val="5620F4"/>
                </a:solidFill>
              </a:rPr>
              <a:t>~/progetto/input</a:t>
            </a:r>
            <a:r>
              <a:rPr b="1" lang="en-US" sz="1900">
                <a:solidFill>
                  <a:schemeClr val="lt1"/>
                </a:solidFill>
              </a:rPr>
              <a:t>$</a:t>
            </a:r>
            <a:r>
              <a:rPr lang="en-US" sz="1900">
                <a:solidFill>
                  <a:schemeClr val="lt1"/>
                </a:solidFill>
              </a:rPr>
              <a:t> echo "a tutti" &gt;&gt; readme.md</a:t>
            </a:r>
            <a:endParaRPr sz="1900">
              <a:solidFill>
                <a:schemeClr val="lt1"/>
              </a:solidFill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7550450" y="6250300"/>
            <a:ext cx="8933700" cy="27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touch file.txt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→ crea un file chiamato file.txt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echo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"ciao" &gt; file.txt </a:t>
            </a:r>
            <a:r>
              <a:rPr lang="en-US" sz="24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→ sovrascrivi ciao all'interno </a:t>
            </a:r>
            <a:endParaRPr sz="24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echo "ciao" &gt;&gt; file.txt → aggiungi ciao all'interno (in coda)</a:t>
            </a:r>
            <a:endParaRPr sz="24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31"/>
          <p:cNvSpPr txBox="1"/>
          <p:nvPr/>
        </p:nvSpPr>
        <p:spPr>
          <a:xfrm>
            <a:off x="10383700" y="2729500"/>
            <a:ext cx="6583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echo</a:t>
            </a: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32" name="Google Shape;432;p31"/>
          <p:cNvSpPr txBox="1"/>
          <p:nvPr/>
        </p:nvSpPr>
        <p:spPr>
          <a:xfrm>
            <a:off x="6654563" y="4865813"/>
            <a:ext cx="129348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Serve per scrivere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31"/>
          <p:cNvSpPr/>
          <p:nvPr/>
        </p:nvSpPr>
        <p:spPr>
          <a:xfrm flipH="1">
            <a:off x="13190112" y="400096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2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leggere un file</a:t>
            </a:r>
            <a:endParaRPr/>
          </a:p>
        </p:txBody>
      </p:sp>
      <p:sp>
        <p:nvSpPr>
          <p:cNvPr id="439" name="Google Shape;439;p32"/>
          <p:cNvSpPr txBox="1"/>
          <p:nvPr/>
        </p:nvSpPr>
        <p:spPr>
          <a:xfrm>
            <a:off x="3093863" y="2127975"/>
            <a:ext cx="12100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cat,    less,   head,    tail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40" name="Google Shape;440;p32"/>
          <p:cNvSpPr txBox="1"/>
          <p:nvPr/>
        </p:nvSpPr>
        <p:spPr>
          <a:xfrm>
            <a:off x="4522913" y="3891725"/>
            <a:ext cx="92421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Servono per visualizzare il contenuto di un file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" name="Google Shape;441;p32"/>
          <p:cNvSpPr/>
          <p:nvPr/>
        </p:nvSpPr>
        <p:spPr>
          <a:xfrm>
            <a:off x="8919725" y="324111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32"/>
          <p:cNvSpPr/>
          <p:nvPr/>
        </p:nvSpPr>
        <p:spPr>
          <a:xfrm>
            <a:off x="1486600" y="5765325"/>
            <a:ext cx="6224807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3" name="Google Shape;443;p32"/>
          <p:cNvSpPr/>
          <p:nvPr/>
        </p:nvSpPr>
        <p:spPr>
          <a:xfrm>
            <a:off x="1517325" y="6345725"/>
            <a:ext cx="62253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2"/>
          <p:cNvSpPr txBox="1"/>
          <p:nvPr/>
        </p:nvSpPr>
        <p:spPr>
          <a:xfrm>
            <a:off x="1486600" y="6345725"/>
            <a:ext cx="6861000" cy="14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50">
                <a:solidFill>
                  <a:srgbClr val="39C026"/>
                </a:solidFill>
              </a:rPr>
              <a:t>lmb@lmb</a:t>
            </a:r>
            <a:r>
              <a:rPr lang="en-US" sz="1850">
                <a:solidFill>
                  <a:schemeClr val="lt1"/>
                </a:solidFill>
              </a:rPr>
              <a:t>:</a:t>
            </a:r>
            <a:r>
              <a:rPr b="1" lang="en-US" sz="1850">
                <a:solidFill>
                  <a:srgbClr val="5620F4"/>
                </a:solidFill>
              </a:rPr>
              <a:t>~/progetto/input</a:t>
            </a:r>
            <a:r>
              <a:rPr b="1" lang="en-US" sz="1850">
                <a:solidFill>
                  <a:schemeClr val="lt1"/>
                </a:solidFill>
              </a:rPr>
              <a:t>$ </a:t>
            </a:r>
            <a:r>
              <a:rPr lang="en-US" sz="1850">
                <a:solidFill>
                  <a:schemeClr val="lt1"/>
                </a:solidFill>
              </a:rPr>
              <a:t>cat readme.md</a:t>
            </a:r>
            <a:endParaRPr sz="18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lt1"/>
                </a:solidFill>
              </a:rPr>
              <a:t>ciao</a:t>
            </a:r>
            <a:endParaRPr sz="18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chemeClr val="lt1"/>
                </a:solidFill>
              </a:rPr>
              <a:t>a tutti</a:t>
            </a:r>
            <a:endParaRPr sz="18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lt1"/>
              </a:solidFill>
            </a:endParaRPr>
          </a:p>
        </p:txBody>
      </p:sp>
      <p:sp>
        <p:nvSpPr>
          <p:cNvPr id="445" name="Google Shape;445;p32"/>
          <p:cNvSpPr txBox="1"/>
          <p:nvPr/>
        </p:nvSpPr>
        <p:spPr>
          <a:xfrm>
            <a:off x="7811400" y="6241025"/>
            <a:ext cx="10008900" cy="26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cat file.txt → stampa tutto (ok per file piccoli)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less file.txt → scorri (esci con q)                                   		✅ preferito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head -n 20 file.txt → prime 20 righe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tail -n 20 file.txt → ultime 20 righe (utile per log/output)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modificare</a:t>
            </a: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 un file</a:t>
            </a:r>
            <a:endParaRPr/>
          </a:p>
        </p:txBody>
      </p:sp>
      <p:sp>
        <p:nvSpPr>
          <p:cNvPr id="451" name="Google Shape;451;p33"/>
          <p:cNvSpPr txBox="1"/>
          <p:nvPr/>
        </p:nvSpPr>
        <p:spPr>
          <a:xfrm>
            <a:off x="3093863" y="2127975"/>
            <a:ext cx="12100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nano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52" name="Google Shape;452;p33"/>
          <p:cNvSpPr txBox="1"/>
          <p:nvPr/>
        </p:nvSpPr>
        <p:spPr>
          <a:xfrm>
            <a:off x="1113000" y="3920050"/>
            <a:ext cx="16062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Serve per aprire e modificare un file (</a:t>
            </a: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consigliato</a:t>
            </a: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per modifiche minime)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8919725" y="324111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33"/>
          <p:cNvSpPr/>
          <p:nvPr/>
        </p:nvSpPr>
        <p:spPr>
          <a:xfrm>
            <a:off x="1486600" y="5765325"/>
            <a:ext cx="6258748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5" name="Google Shape;455;p33"/>
          <p:cNvSpPr/>
          <p:nvPr/>
        </p:nvSpPr>
        <p:spPr>
          <a:xfrm>
            <a:off x="1517325" y="6345725"/>
            <a:ext cx="62253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1486600" y="6345725"/>
            <a:ext cx="6861000" cy="3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  GNU nano 7.2                                                                                              readme.md</a:t>
            </a:r>
            <a:r>
              <a:rPr lang="en-US" sz="1250">
                <a:solidFill>
                  <a:srgbClr val="FFFFFF"/>
                </a:solidFill>
                <a:highlight>
                  <a:schemeClr val="lt1"/>
                </a:highlight>
              </a:rPr>
              <a:t>  </a:t>
            </a:r>
            <a:r>
              <a:rPr lang="en-US" sz="1250">
                <a:solidFill>
                  <a:srgbClr val="FFFFFF"/>
                </a:solidFill>
                <a:highlight>
                  <a:schemeClr val="dk1"/>
                </a:highlight>
              </a:rPr>
              <a:t>                                         </a:t>
            </a:r>
            <a:endParaRPr sz="1250">
              <a:solidFill>
                <a:srgbClr val="FFFFFF"/>
              </a:solidFill>
              <a:highlight>
                <a:schemeClr val="dk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lt1"/>
                </a:solidFill>
              </a:rPr>
              <a:t>ciao</a:t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lt1"/>
                </a:solidFill>
              </a:rPr>
              <a:t>a tutti</a:t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dk1"/>
                </a:solidFill>
              </a:rPr>
              <a:t>                                                   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[ Read 2 lines ]</a:t>
            </a:r>
            <a:endParaRPr sz="125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^G</a:t>
            </a:r>
            <a:r>
              <a:rPr lang="en-US" sz="1250">
                <a:solidFill>
                  <a:schemeClr val="lt1"/>
                </a:solidFill>
              </a:rPr>
              <a:t> Help  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^O</a:t>
            </a:r>
            <a:r>
              <a:rPr lang="en-US" sz="1250">
                <a:solidFill>
                  <a:schemeClr val="lt1"/>
                </a:solidFill>
              </a:rPr>
              <a:t> Write Out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^W</a:t>
            </a:r>
            <a:r>
              <a:rPr lang="en-US" sz="1250">
                <a:solidFill>
                  <a:schemeClr val="lt1"/>
                </a:solidFill>
              </a:rPr>
              <a:t> Where Is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^K</a:t>
            </a:r>
            <a:r>
              <a:rPr lang="en-US" sz="1250">
                <a:solidFill>
                  <a:schemeClr val="lt1"/>
                </a:solidFill>
              </a:rPr>
              <a:t> Cut    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^T</a:t>
            </a:r>
            <a:r>
              <a:rPr lang="en-US" sz="1250">
                <a:solidFill>
                  <a:schemeClr val="lt1"/>
                </a:solidFill>
              </a:rPr>
              <a:t> Execute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^C</a:t>
            </a:r>
            <a:r>
              <a:rPr lang="en-US" sz="1250">
                <a:solidFill>
                  <a:schemeClr val="lt1"/>
                </a:solidFill>
              </a:rPr>
              <a:t> Location</a:t>
            </a:r>
            <a:endParaRPr sz="12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^X</a:t>
            </a:r>
            <a:r>
              <a:rPr lang="en-US" sz="1250">
                <a:solidFill>
                  <a:schemeClr val="lt1"/>
                </a:solidFill>
              </a:rPr>
              <a:t> Exit    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^R</a:t>
            </a:r>
            <a:r>
              <a:rPr lang="en-US" sz="1250">
                <a:solidFill>
                  <a:schemeClr val="lt1"/>
                </a:solidFill>
              </a:rPr>
              <a:t> Read File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^\ </a:t>
            </a:r>
            <a:r>
              <a:rPr lang="en-US" sz="1250">
                <a:solidFill>
                  <a:schemeClr val="lt1"/>
                </a:solidFill>
              </a:rPr>
              <a:t> Replace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^U</a:t>
            </a:r>
            <a:r>
              <a:rPr lang="en-US" sz="1250">
                <a:solidFill>
                  <a:schemeClr val="lt1"/>
                </a:solidFill>
              </a:rPr>
              <a:t> Paste 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^J</a:t>
            </a:r>
            <a:r>
              <a:rPr lang="en-US" sz="1250">
                <a:solidFill>
                  <a:schemeClr val="lt1"/>
                </a:solidFill>
              </a:rPr>
              <a:t> Justify         </a:t>
            </a:r>
            <a:r>
              <a:rPr lang="en-US" sz="1250">
                <a:solidFill>
                  <a:schemeClr val="dk1"/>
                </a:solidFill>
                <a:highlight>
                  <a:schemeClr val="lt1"/>
                </a:highlight>
              </a:rPr>
              <a:t>^/ </a:t>
            </a:r>
            <a:r>
              <a:rPr lang="en-US" sz="1250">
                <a:solidFill>
                  <a:schemeClr val="lt1"/>
                </a:solidFill>
              </a:rPr>
              <a:t> Go To Line</a:t>
            </a:r>
            <a:endParaRPr sz="8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50">
              <a:solidFill>
                <a:srgbClr val="39C02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lt1"/>
              </a:solidFill>
            </a:endParaRPr>
          </a:p>
        </p:txBody>
      </p:sp>
      <p:sp>
        <p:nvSpPr>
          <p:cNvPr id="457" name="Google Shape;457;p33"/>
          <p:cNvSpPr txBox="1"/>
          <p:nvPr/>
        </p:nvSpPr>
        <p:spPr>
          <a:xfrm>
            <a:off x="7847125" y="5831225"/>
            <a:ext cx="10008900" cy="343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nano file.txt </a:t>
            </a:r>
            <a:r>
              <a:rPr lang="en-US" sz="2437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→ apre o crea il file se non esiste</a:t>
            </a:r>
            <a:endParaRPr sz="2437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37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Salva: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Ctrl + O (Write Out) → Invio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                                 		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Esci: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Ctrl + X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	</a:t>
            </a:r>
            <a:r>
              <a:rPr b="1" lang="en-US" sz="3600">
                <a:solidFill>
                  <a:srgbClr val="FFCA04"/>
                </a:solidFill>
                <a:latin typeface="Lato"/>
                <a:ea typeface="Lato"/>
                <a:cs typeface="Lato"/>
                <a:sym typeface="Lato"/>
              </a:rPr>
              <a:t>Cerca: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Ctrl + W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4"/>
          <p:cNvSpPr txBox="1"/>
          <p:nvPr/>
        </p:nvSpPr>
        <p:spPr>
          <a:xfrm>
            <a:off x="3046028" y="788784"/>
            <a:ext cx="12195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copiare un file</a:t>
            </a:r>
            <a:endParaRPr/>
          </a:p>
        </p:txBody>
      </p:sp>
      <p:sp>
        <p:nvSpPr>
          <p:cNvPr id="463" name="Google Shape;463;p34"/>
          <p:cNvSpPr txBox="1"/>
          <p:nvPr/>
        </p:nvSpPr>
        <p:spPr>
          <a:xfrm>
            <a:off x="3093863" y="2127975"/>
            <a:ext cx="12100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cp 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64" name="Google Shape;464;p34"/>
          <p:cNvSpPr txBox="1"/>
          <p:nvPr/>
        </p:nvSpPr>
        <p:spPr>
          <a:xfrm>
            <a:off x="1113000" y="3920050"/>
            <a:ext cx="16062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Significa copy e serve per copiare file o cartelle 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34"/>
          <p:cNvSpPr/>
          <p:nvPr/>
        </p:nvSpPr>
        <p:spPr>
          <a:xfrm>
            <a:off x="8919725" y="324111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6" name="Google Shape;466;p34"/>
          <p:cNvSpPr/>
          <p:nvPr/>
        </p:nvSpPr>
        <p:spPr>
          <a:xfrm>
            <a:off x="1486600" y="5765325"/>
            <a:ext cx="6258748" cy="3577299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34"/>
          <p:cNvSpPr/>
          <p:nvPr/>
        </p:nvSpPr>
        <p:spPr>
          <a:xfrm>
            <a:off x="1517325" y="6345725"/>
            <a:ext cx="6225300" cy="296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4"/>
          <p:cNvSpPr txBox="1"/>
          <p:nvPr/>
        </p:nvSpPr>
        <p:spPr>
          <a:xfrm>
            <a:off x="1486600" y="6345725"/>
            <a:ext cx="6861000" cy="26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 </a:t>
            </a:r>
            <a:r>
              <a:rPr lang="en-US" sz="1750">
                <a:solidFill>
                  <a:schemeClr val="lt1"/>
                </a:solidFill>
              </a:rPr>
              <a:t>cp readme.md readme_old.md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b="1"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readme.md  readme_old.md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b="1"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cat readme_old.md 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ciao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a tutti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b="1"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50">
              <a:solidFill>
                <a:schemeClr val="lt1"/>
              </a:solidFill>
            </a:endParaRPr>
          </a:p>
        </p:txBody>
      </p:sp>
      <p:sp>
        <p:nvSpPr>
          <p:cNvPr id="469" name="Google Shape;469;p34"/>
          <p:cNvSpPr txBox="1"/>
          <p:nvPr/>
        </p:nvSpPr>
        <p:spPr>
          <a:xfrm>
            <a:off x="8418625" y="6241025"/>
            <a:ext cx="100089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cp sorgente destinazione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cp -r cartella1 cartella2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5"/>
          <p:cNvSpPr txBox="1"/>
          <p:nvPr/>
        </p:nvSpPr>
        <p:spPr>
          <a:xfrm>
            <a:off x="555450" y="788775"/>
            <a:ext cx="17177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spostare o rinominare</a:t>
            </a: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 un file</a:t>
            </a:r>
            <a:endParaRPr/>
          </a:p>
        </p:txBody>
      </p:sp>
      <p:sp>
        <p:nvSpPr>
          <p:cNvPr id="475" name="Google Shape;475;p35"/>
          <p:cNvSpPr txBox="1"/>
          <p:nvPr/>
        </p:nvSpPr>
        <p:spPr>
          <a:xfrm>
            <a:off x="3093863" y="2127975"/>
            <a:ext cx="12100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mv</a:t>
            </a: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1113000" y="3920050"/>
            <a:ext cx="16062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Significa move e serve per spostare file o cartelle o </a:t>
            </a: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rinominare</a:t>
            </a: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7" name="Google Shape;477;p35"/>
          <p:cNvSpPr/>
          <p:nvPr/>
        </p:nvSpPr>
        <p:spPr>
          <a:xfrm>
            <a:off x="8919725" y="324111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8" name="Google Shape;478;p35"/>
          <p:cNvSpPr/>
          <p:nvPr/>
        </p:nvSpPr>
        <p:spPr>
          <a:xfrm>
            <a:off x="1486600" y="4579500"/>
            <a:ext cx="7120853" cy="4475345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79" name="Google Shape;479;p35"/>
          <p:cNvSpPr/>
          <p:nvPr/>
        </p:nvSpPr>
        <p:spPr>
          <a:xfrm>
            <a:off x="1526075" y="5293875"/>
            <a:ext cx="7081500" cy="3761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1526075" y="5293875"/>
            <a:ext cx="6861000" cy="38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 </a:t>
            </a:r>
            <a:r>
              <a:rPr lang="en-US" sz="1750">
                <a:solidFill>
                  <a:schemeClr val="lt1"/>
                </a:solidFill>
              </a:rPr>
              <a:t>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readme.md  readme_old.md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mv readme_old.md readme_route.md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readme.md  readme_route.md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mv readme_route.md ../</a:t>
            </a:r>
            <a:br>
              <a:rPr lang="en-US" sz="1750">
                <a:solidFill>
                  <a:schemeClr val="lt1"/>
                </a:solidFill>
              </a:rPr>
            </a:b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b="1" lang="en-US" sz="1750">
                <a:solidFill>
                  <a:srgbClr val="5620F4"/>
                </a:solidFill>
              </a:rPr>
              <a:t> </a:t>
            </a:r>
            <a:r>
              <a:rPr lang="en-US" sz="1750">
                <a:solidFill>
                  <a:schemeClr val="lt1"/>
                </a:solidFill>
              </a:rPr>
              <a:t>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readme.md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~/progetto/input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cd ..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5620F4"/>
                </a:solidFill>
              </a:rPr>
              <a:t>input</a:t>
            </a:r>
            <a:r>
              <a:rPr lang="en-US" sz="1750">
                <a:solidFill>
                  <a:schemeClr val="lt1"/>
                </a:solidFill>
              </a:rPr>
              <a:t>  </a:t>
            </a:r>
            <a:r>
              <a:rPr lang="en-US" sz="1750">
                <a:solidFill>
                  <a:srgbClr val="5620F4"/>
                </a:solidFill>
              </a:rPr>
              <a:t>log</a:t>
            </a:r>
            <a:r>
              <a:rPr lang="en-US" sz="1750">
                <a:solidFill>
                  <a:schemeClr val="lt1"/>
                </a:solidFill>
              </a:rPr>
              <a:t>  </a:t>
            </a:r>
            <a:r>
              <a:rPr lang="en-US" sz="1750">
                <a:solidFill>
                  <a:srgbClr val="5620F4"/>
                </a:solidFill>
              </a:rPr>
              <a:t>output</a:t>
            </a:r>
            <a:r>
              <a:rPr lang="en-US" sz="1750">
                <a:solidFill>
                  <a:schemeClr val="lt1"/>
                </a:solidFill>
              </a:rPr>
              <a:t>  readme_route.md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chemeClr val="lt1"/>
              </a:solidFill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8418625" y="6241025"/>
            <a:ext cx="100089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mv vecchio_nome  nuovo_nome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mv file.txt cartella/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 txBox="1"/>
          <p:nvPr/>
        </p:nvSpPr>
        <p:spPr>
          <a:xfrm>
            <a:off x="555450" y="788775"/>
            <a:ext cx="171771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cancellare</a:t>
            </a: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 un file</a:t>
            </a:r>
            <a:endParaRPr/>
          </a:p>
        </p:txBody>
      </p:sp>
      <p:sp>
        <p:nvSpPr>
          <p:cNvPr id="487" name="Google Shape;487;p36"/>
          <p:cNvSpPr txBox="1"/>
          <p:nvPr/>
        </p:nvSpPr>
        <p:spPr>
          <a:xfrm>
            <a:off x="3093863" y="2127975"/>
            <a:ext cx="121002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rm</a:t>
            </a:r>
            <a:r>
              <a:rPr lang="en-US" sz="6500">
                <a:solidFill>
                  <a:schemeClr val="lt1"/>
                </a:solidFill>
                <a:latin typeface="Paytone One"/>
                <a:ea typeface="Paytone One"/>
                <a:cs typeface="Paytone One"/>
                <a:sym typeface="Paytone One"/>
              </a:rPr>
              <a:t> </a:t>
            </a:r>
            <a:endParaRPr sz="100">
              <a:solidFill>
                <a:schemeClr val="lt1"/>
              </a:solidFill>
            </a:endParaRPr>
          </a:p>
        </p:txBody>
      </p:sp>
      <p:sp>
        <p:nvSpPr>
          <p:cNvPr id="488" name="Google Shape;488;p36"/>
          <p:cNvSpPr txBox="1"/>
          <p:nvPr/>
        </p:nvSpPr>
        <p:spPr>
          <a:xfrm>
            <a:off x="1113000" y="3920050"/>
            <a:ext cx="16062000" cy="5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	Significa remove e serve per eliminare file o cartelle 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9" name="Google Shape;489;p36"/>
          <p:cNvSpPr/>
          <p:nvPr/>
        </p:nvSpPr>
        <p:spPr>
          <a:xfrm>
            <a:off x="8919725" y="324111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0" name="Google Shape;490;p36"/>
          <p:cNvSpPr/>
          <p:nvPr/>
        </p:nvSpPr>
        <p:spPr>
          <a:xfrm>
            <a:off x="1506400" y="4348600"/>
            <a:ext cx="7120853" cy="4475345"/>
          </a:xfrm>
          <a:custGeom>
            <a:rect b="b" l="l" r="r" t="t"/>
            <a:pathLst>
              <a:path extrusionOk="0" h="1984632" w="2715292">
                <a:moveTo>
                  <a:pt x="0" y="0"/>
                </a:moveTo>
                <a:lnTo>
                  <a:pt x="2715292" y="0"/>
                </a:lnTo>
                <a:lnTo>
                  <a:pt x="2715292" y="1984631"/>
                </a:lnTo>
                <a:lnTo>
                  <a:pt x="0" y="19846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1" name="Google Shape;491;p36"/>
          <p:cNvSpPr/>
          <p:nvPr/>
        </p:nvSpPr>
        <p:spPr>
          <a:xfrm>
            <a:off x="1526075" y="5055725"/>
            <a:ext cx="7081500" cy="52314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6"/>
          <p:cNvSpPr txBox="1"/>
          <p:nvPr/>
        </p:nvSpPr>
        <p:spPr>
          <a:xfrm>
            <a:off x="1526075" y="5120675"/>
            <a:ext cx="6861000" cy="54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~/progetto/trash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a.txt  b.txt  c.txt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~/progetto/trash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rm a.txt 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~/progetto/trash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b.txt  c.txt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~/progetto/trash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cd ..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rm trash/b.txt 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cd trash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~/progetto/trash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chemeClr val="lt1"/>
                </a:solidFill>
              </a:rPr>
              <a:t>c.txt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~/progetto/trash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cd ..</a:t>
            </a:r>
            <a:br>
              <a:rPr lang="en-US" sz="1750">
                <a:solidFill>
                  <a:schemeClr val="lt1"/>
                </a:solidFill>
              </a:rPr>
            </a:b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</a:t>
            </a:r>
            <a:r>
              <a:rPr b="1" lang="en-US" sz="1750">
                <a:solidFill>
                  <a:schemeClr val="lt1"/>
                </a:solidFill>
              </a:rPr>
              <a:t>$ </a:t>
            </a:r>
            <a:r>
              <a:rPr lang="en-US" sz="1750">
                <a:solidFill>
                  <a:schemeClr val="lt1"/>
                </a:solidFill>
              </a:rPr>
              <a:t>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5620F4"/>
                </a:solidFill>
              </a:rPr>
              <a:t>input</a:t>
            </a:r>
            <a:r>
              <a:rPr lang="en-US" sz="1750">
                <a:solidFill>
                  <a:schemeClr val="lt1"/>
                </a:solidFill>
              </a:rPr>
              <a:t>  </a:t>
            </a:r>
            <a:r>
              <a:rPr lang="en-US" sz="1750">
                <a:solidFill>
                  <a:srgbClr val="5620F4"/>
                </a:solidFill>
              </a:rPr>
              <a:t>log</a:t>
            </a:r>
            <a:r>
              <a:rPr lang="en-US" sz="1750">
                <a:solidFill>
                  <a:schemeClr val="lt1"/>
                </a:solidFill>
              </a:rPr>
              <a:t>  </a:t>
            </a:r>
            <a:r>
              <a:rPr lang="en-US" sz="1750">
                <a:solidFill>
                  <a:srgbClr val="5620F4"/>
                </a:solidFill>
              </a:rPr>
              <a:t>output</a:t>
            </a:r>
            <a:r>
              <a:rPr lang="en-US" sz="1750">
                <a:solidFill>
                  <a:schemeClr val="lt1"/>
                </a:solidFill>
              </a:rPr>
              <a:t>  readme_route.md  </a:t>
            </a:r>
            <a:r>
              <a:rPr lang="en-US" sz="1750">
                <a:solidFill>
                  <a:srgbClr val="5620F4"/>
                </a:solidFill>
              </a:rPr>
              <a:t>trash</a:t>
            </a:r>
            <a:endParaRPr sz="1750">
              <a:solidFill>
                <a:srgbClr val="5620F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rm -r trash/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39C026"/>
                </a:solidFill>
              </a:rPr>
              <a:t>lmb@lmb</a:t>
            </a:r>
            <a:r>
              <a:rPr lang="en-US" sz="1750">
                <a:solidFill>
                  <a:schemeClr val="lt1"/>
                </a:solidFill>
              </a:rPr>
              <a:t>:</a:t>
            </a:r>
            <a:r>
              <a:rPr b="1" lang="en-US" sz="1750">
                <a:solidFill>
                  <a:srgbClr val="5620F4"/>
                </a:solidFill>
              </a:rPr>
              <a:t>~/progetto</a:t>
            </a:r>
            <a:r>
              <a:rPr b="1" lang="en-US" sz="1750">
                <a:solidFill>
                  <a:schemeClr val="lt1"/>
                </a:solidFill>
              </a:rPr>
              <a:t>$</a:t>
            </a:r>
            <a:r>
              <a:rPr lang="en-US" sz="1750">
                <a:solidFill>
                  <a:schemeClr val="lt1"/>
                </a:solidFill>
              </a:rPr>
              <a:t> ls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50">
                <a:solidFill>
                  <a:srgbClr val="5620F4"/>
                </a:solidFill>
              </a:rPr>
              <a:t>input</a:t>
            </a:r>
            <a:r>
              <a:rPr lang="en-US" sz="1750">
                <a:solidFill>
                  <a:schemeClr val="lt1"/>
                </a:solidFill>
              </a:rPr>
              <a:t>  </a:t>
            </a:r>
            <a:r>
              <a:rPr lang="en-US" sz="1750">
                <a:solidFill>
                  <a:srgbClr val="5620F4"/>
                </a:solidFill>
              </a:rPr>
              <a:t>log</a:t>
            </a:r>
            <a:r>
              <a:rPr lang="en-US" sz="1750">
                <a:solidFill>
                  <a:schemeClr val="lt1"/>
                </a:solidFill>
              </a:rPr>
              <a:t>  </a:t>
            </a:r>
            <a:r>
              <a:rPr lang="en-US" sz="1750">
                <a:solidFill>
                  <a:srgbClr val="5620F4"/>
                </a:solidFill>
              </a:rPr>
              <a:t>output</a:t>
            </a:r>
            <a:r>
              <a:rPr lang="en-US" sz="1750">
                <a:solidFill>
                  <a:schemeClr val="lt1"/>
                </a:solidFill>
              </a:rPr>
              <a:t>  readme_route.md</a:t>
            </a:r>
            <a:endParaRPr sz="175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chemeClr val="lt1"/>
              </a:solidFill>
            </a:endParaRPr>
          </a:p>
        </p:txBody>
      </p:sp>
      <p:sp>
        <p:nvSpPr>
          <p:cNvPr id="493" name="Google Shape;493;p36"/>
          <p:cNvSpPr txBox="1"/>
          <p:nvPr/>
        </p:nvSpPr>
        <p:spPr>
          <a:xfrm>
            <a:off x="8418625" y="6241025"/>
            <a:ext cx="10008900" cy="29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rm file.txt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rm -r cartella/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36"/>
          <p:cNvSpPr/>
          <p:nvPr/>
        </p:nvSpPr>
        <p:spPr>
          <a:xfrm>
            <a:off x="13553400" y="6529265"/>
            <a:ext cx="2507679" cy="2357218"/>
          </a:xfrm>
          <a:custGeom>
            <a:rect b="b" l="l" r="r" t="t"/>
            <a:pathLst>
              <a:path extrusionOk="0" h="2357218" w="2507679">
                <a:moveTo>
                  <a:pt x="0" y="0"/>
                </a:moveTo>
                <a:lnTo>
                  <a:pt x="2507678" y="0"/>
                </a:lnTo>
                <a:lnTo>
                  <a:pt x="2507678" y="2357218"/>
                </a:lnTo>
                <a:lnTo>
                  <a:pt x="0" y="23572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5" name="Google Shape;495;p36"/>
          <p:cNvSpPr txBox="1"/>
          <p:nvPr/>
        </p:nvSpPr>
        <p:spPr>
          <a:xfrm>
            <a:off x="13582264" y="6847575"/>
            <a:ext cx="3000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Lato"/>
                <a:ea typeface="Lato"/>
                <a:cs typeface="Lato"/>
                <a:sym typeface="Lato"/>
              </a:rPr>
              <a:t>nel terminale non</a:t>
            </a:r>
            <a:endParaRPr b="1" sz="19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latin typeface="Lato"/>
                <a:ea typeface="Lato"/>
                <a:cs typeface="Lato"/>
                <a:sym typeface="Lato"/>
              </a:rPr>
              <a:t> c’è un cestino</a:t>
            </a:r>
            <a:endParaRPr b="1" sz="1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07825" y="0"/>
            <a:ext cx="13208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7"/>
          <p:cNvSpPr txBox="1"/>
          <p:nvPr/>
        </p:nvSpPr>
        <p:spPr>
          <a:xfrm>
            <a:off x="2696853" y="804917"/>
            <a:ext cx="128943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Cercare file e testo</a:t>
            </a:r>
            <a:endParaRPr/>
          </a:p>
        </p:txBody>
      </p:sp>
      <p:sp>
        <p:nvSpPr>
          <p:cNvPr id="502" name="Google Shape;502;p37"/>
          <p:cNvSpPr txBox="1"/>
          <p:nvPr/>
        </p:nvSpPr>
        <p:spPr>
          <a:xfrm>
            <a:off x="4579850" y="6308400"/>
            <a:ext cx="26976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grep</a:t>
            </a:r>
            <a:endParaRPr/>
          </a:p>
        </p:txBody>
      </p:sp>
      <p:sp>
        <p:nvSpPr>
          <p:cNvPr id="503" name="Google Shape;503;p37"/>
          <p:cNvSpPr txBox="1"/>
          <p:nvPr/>
        </p:nvSpPr>
        <p:spPr>
          <a:xfrm>
            <a:off x="4621550" y="4252288"/>
            <a:ext cx="2614200" cy="13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4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90">
                <a:solidFill>
                  <a:srgbClr val="FFD7F3"/>
                </a:solidFill>
                <a:latin typeface="Paytone One"/>
                <a:ea typeface="Paytone One"/>
                <a:cs typeface="Paytone One"/>
                <a:sym typeface="Paytone One"/>
              </a:rPr>
              <a:t>find</a:t>
            </a:r>
            <a:endParaRPr/>
          </a:p>
        </p:txBody>
      </p:sp>
      <p:cxnSp>
        <p:nvCxnSpPr>
          <p:cNvPr id="504" name="Google Shape;504;p37"/>
          <p:cNvCxnSpPr/>
          <p:nvPr/>
        </p:nvCxnSpPr>
        <p:spPr>
          <a:xfrm rot="10800000">
            <a:off x="7023243" y="5019201"/>
            <a:ext cx="788700" cy="0"/>
          </a:xfrm>
          <a:prstGeom prst="straightConnector1">
            <a:avLst/>
          </a:prstGeom>
          <a:noFill/>
          <a:ln cap="flat" cmpd="sng" w="3810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37"/>
          <p:cNvCxnSpPr/>
          <p:nvPr/>
        </p:nvCxnSpPr>
        <p:spPr>
          <a:xfrm rot="10800000">
            <a:off x="7023243" y="7109698"/>
            <a:ext cx="788700" cy="0"/>
          </a:xfrm>
          <a:prstGeom prst="straightConnector1">
            <a:avLst/>
          </a:prstGeom>
          <a:noFill/>
          <a:ln cap="flat" cmpd="sng" w="38100">
            <a:solidFill>
              <a:srgbClr val="FFD7F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37"/>
          <p:cNvSpPr/>
          <p:nvPr/>
        </p:nvSpPr>
        <p:spPr>
          <a:xfrm flipH="1" rot="10800000">
            <a:off x="5654881" y="3649414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7" name="Google Shape;507;p37"/>
          <p:cNvSpPr/>
          <p:nvPr/>
        </p:nvSpPr>
        <p:spPr>
          <a:xfrm>
            <a:off x="5897249" y="7713468"/>
            <a:ext cx="448473" cy="650611"/>
          </a:xfrm>
          <a:custGeom>
            <a:rect b="b" l="l" r="r" t="t"/>
            <a:pathLst>
              <a:path extrusionOk="0" h="1429914" w="896946">
                <a:moveTo>
                  <a:pt x="0" y="0"/>
                </a:moveTo>
                <a:lnTo>
                  <a:pt x="896946" y="0"/>
                </a:lnTo>
                <a:lnTo>
                  <a:pt x="896946" y="1429914"/>
                </a:lnTo>
                <a:lnTo>
                  <a:pt x="0" y="14299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08" name="Google Shape;508;p37"/>
          <p:cNvSpPr txBox="1"/>
          <p:nvPr/>
        </p:nvSpPr>
        <p:spPr>
          <a:xfrm>
            <a:off x="3697625" y="2385200"/>
            <a:ext cx="61170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Cerca file o cartella, restituisce la lista di file trovati 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09" name="Google Shape;509;p37"/>
          <p:cNvSpPr txBox="1"/>
          <p:nvPr/>
        </p:nvSpPr>
        <p:spPr>
          <a:xfrm>
            <a:off x="3593325" y="8473650"/>
            <a:ext cx="78078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Cerca testo dentro i file, restituisce la linea del file con la parola cercata</a:t>
            </a:r>
            <a:endParaRPr sz="3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0" name="Google Shape;510;p37"/>
          <p:cNvSpPr txBox="1"/>
          <p:nvPr/>
        </p:nvSpPr>
        <p:spPr>
          <a:xfrm>
            <a:off x="9766444" y="6547050"/>
            <a:ext cx="49062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grep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"ciao"readme.txt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grep -R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"errore" . 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1" name="Google Shape;511;p37"/>
          <p:cNvSpPr txBox="1"/>
          <p:nvPr/>
        </p:nvSpPr>
        <p:spPr>
          <a:xfrm>
            <a:off x="9766444" y="4366150"/>
            <a:ext cx="49062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8450" lvl="1" marL="9144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FFCA04"/>
              </a:buClr>
              <a:buSzPts val="1100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find . -name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"readme.txt"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84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Lato"/>
              <a:buChar char="○"/>
            </a:pP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 find . -name </a:t>
            </a:r>
            <a:r>
              <a:rPr lang="en-US" sz="24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"*.txt"</a:t>
            </a:r>
            <a:endParaRPr sz="2437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38"/>
          <p:cNvPicPr preferRelativeResize="0"/>
          <p:nvPr/>
        </p:nvPicPr>
        <p:blipFill rotWithShape="1">
          <a:blip r:embed="rId3">
            <a:alphaModFix amt="47000"/>
          </a:blip>
          <a:srcRect b="4245" l="47620" r="33322" t="31437"/>
          <a:stretch/>
        </p:blipFill>
        <p:spPr>
          <a:xfrm>
            <a:off x="0" y="0"/>
            <a:ext cx="4572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8"/>
          <p:cNvSpPr/>
          <p:nvPr/>
        </p:nvSpPr>
        <p:spPr>
          <a:xfrm>
            <a:off x="-3318947" y="6185937"/>
            <a:ext cx="6637894" cy="7229390"/>
          </a:xfrm>
          <a:custGeom>
            <a:rect b="b" l="l" r="r" t="t"/>
            <a:pathLst>
              <a:path extrusionOk="0" h="7229390" w="6637894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8" name="Google Shape;518;p38"/>
          <p:cNvSpPr/>
          <p:nvPr/>
        </p:nvSpPr>
        <p:spPr>
          <a:xfrm>
            <a:off x="15429816" y="-2978160"/>
            <a:ext cx="6637894" cy="7229390"/>
          </a:xfrm>
          <a:custGeom>
            <a:rect b="b" l="l" r="r" t="t"/>
            <a:pathLst>
              <a:path extrusionOk="0" h="7229390" w="6637894">
                <a:moveTo>
                  <a:pt x="0" y="0"/>
                </a:moveTo>
                <a:lnTo>
                  <a:pt x="6637894" y="0"/>
                </a:lnTo>
                <a:lnTo>
                  <a:pt x="6637894" y="7229390"/>
                </a:lnTo>
                <a:lnTo>
                  <a:pt x="0" y="72293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19" name="Google Shape;519;p38"/>
          <p:cNvSpPr txBox="1"/>
          <p:nvPr/>
        </p:nvSpPr>
        <p:spPr>
          <a:xfrm>
            <a:off x="4881749" y="929975"/>
            <a:ext cx="10548000" cy="16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665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Comandi utili </a:t>
            </a:r>
            <a:endParaRPr/>
          </a:p>
        </p:txBody>
      </p:sp>
      <p:grpSp>
        <p:nvGrpSpPr>
          <p:cNvPr id="520" name="Google Shape;520;p38"/>
          <p:cNvGrpSpPr/>
          <p:nvPr/>
        </p:nvGrpSpPr>
        <p:grpSpPr>
          <a:xfrm>
            <a:off x="5673200" y="3626126"/>
            <a:ext cx="3140160" cy="887142"/>
            <a:chOff x="-3" y="-73429"/>
            <a:chExt cx="1242348" cy="350982"/>
          </a:xfrm>
        </p:grpSpPr>
        <p:sp>
          <p:nvSpPr>
            <p:cNvPr id="521" name="Google Shape;521;p38"/>
            <p:cNvSpPr/>
            <p:nvPr/>
          </p:nvSpPr>
          <p:spPr>
            <a:xfrm>
              <a:off x="-3" y="-73429"/>
              <a:ext cx="1242348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8"/>
            <p:cNvSpPr txBox="1"/>
            <p:nvPr/>
          </p:nvSpPr>
          <p:spPr>
            <a:xfrm>
              <a:off x="471" y="-11938"/>
              <a:ext cx="12414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man comando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23" name="Google Shape;523;p38"/>
          <p:cNvGrpSpPr/>
          <p:nvPr/>
        </p:nvGrpSpPr>
        <p:grpSpPr>
          <a:xfrm>
            <a:off x="5673200" y="4945376"/>
            <a:ext cx="3140160" cy="887142"/>
            <a:chOff x="-3" y="-73429"/>
            <a:chExt cx="1242348" cy="350982"/>
          </a:xfrm>
        </p:grpSpPr>
        <p:sp>
          <p:nvSpPr>
            <p:cNvPr id="524" name="Google Shape;524;p38"/>
            <p:cNvSpPr/>
            <p:nvPr/>
          </p:nvSpPr>
          <p:spPr>
            <a:xfrm>
              <a:off x="-3" y="-73429"/>
              <a:ext cx="1242348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8"/>
            <p:cNvSpPr txBox="1"/>
            <p:nvPr/>
          </p:nvSpPr>
          <p:spPr>
            <a:xfrm>
              <a:off x="471" y="-11938"/>
              <a:ext cx="12414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history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26" name="Google Shape;526;p38"/>
          <p:cNvGrpSpPr/>
          <p:nvPr/>
        </p:nvGrpSpPr>
        <p:grpSpPr>
          <a:xfrm>
            <a:off x="5673200" y="6264626"/>
            <a:ext cx="3140160" cy="887142"/>
            <a:chOff x="-3" y="-73429"/>
            <a:chExt cx="1242348" cy="350982"/>
          </a:xfrm>
        </p:grpSpPr>
        <p:sp>
          <p:nvSpPr>
            <p:cNvPr id="527" name="Google Shape;527;p38"/>
            <p:cNvSpPr/>
            <p:nvPr/>
          </p:nvSpPr>
          <p:spPr>
            <a:xfrm>
              <a:off x="-3" y="-73429"/>
              <a:ext cx="1242348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8"/>
            <p:cNvSpPr txBox="1"/>
            <p:nvPr/>
          </p:nvSpPr>
          <p:spPr>
            <a:xfrm>
              <a:off x="471" y="-11938"/>
              <a:ext cx="12414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clear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29" name="Google Shape;529;p38"/>
          <p:cNvGrpSpPr/>
          <p:nvPr/>
        </p:nvGrpSpPr>
        <p:grpSpPr>
          <a:xfrm>
            <a:off x="5673200" y="7583876"/>
            <a:ext cx="3140160" cy="887142"/>
            <a:chOff x="-3" y="-73429"/>
            <a:chExt cx="1242348" cy="350982"/>
          </a:xfrm>
        </p:grpSpPr>
        <p:sp>
          <p:nvSpPr>
            <p:cNvPr id="530" name="Google Shape;530;p38"/>
            <p:cNvSpPr/>
            <p:nvPr/>
          </p:nvSpPr>
          <p:spPr>
            <a:xfrm>
              <a:off x="-3" y="-73429"/>
              <a:ext cx="1242348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8"/>
            <p:cNvSpPr txBox="1"/>
            <p:nvPr/>
          </p:nvSpPr>
          <p:spPr>
            <a:xfrm>
              <a:off x="471" y="-11938"/>
              <a:ext cx="12414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Ctrl + c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32" name="Google Shape;532;p38"/>
          <p:cNvSpPr txBox="1"/>
          <p:nvPr/>
        </p:nvSpPr>
        <p:spPr>
          <a:xfrm>
            <a:off x="9471325" y="3690950"/>
            <a:ext cx="57330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restituisce il manuale del 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comando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inserito dopo spesso a piú pagine</a:t>
            </a:r>
            <a:endParaRPr/>
          </a:p>
        </p:txBody>
      </p:sp>
      <p:sp>
        <p:nvSpPr>
          <p:cNvPr id="533" name="Google Shape;533;p38"/>
          <p:cNvSpPr txBox="1"/>
          <p:nvPr/>
        </p:nvSpPr>
        <p:spPr>
          <a:xfrm>
            <a:off x="9471325" y="5010200"/>
            <a:ext cx="57330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restituisce la lista completa dei comandi precedentemente eseguiti</a:t>
            </a:r>
            <a:endParaRPr/>
          </a:p>
        </p:txBody>
      </p:sp>
      <p:sp>
        <p:nvSpPr>
          <p:cNvPr id="534" name="Google Shape;534;p38"/>
          <p:cNvSpPr txBox="1"/>
          <p:nvPr/>
        </p:nvSpPr>
        <p:spPr>
          <a:xfrm>
            <a:off x="9471325" y="6536000"/>
            <a:ext cx="5733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pulisce il terminale da tutte le cose precedenti</a:t>
            </a:r>
            <a:endParaRPr/>
          </a:p>
        </p:txBody>
      </p:sp>
      <p:sp>
        <p:nvSpPr>
          <p:cNvPr id="535" name="Google Shape;535;p38"/>
          <p:cNvSpPr txBox="1"/>
          <p:nvPr/>
        </p:nvSpPr>
        <p:spPr>
          <a:xfrm>
            <a:off x="9471325" y="7648700"/>
            <a:ext cx="5733000" cy="7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permette di interrompere comandi o programmi bloccati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9"/>
          <p:cNvSpPr txBox="1"/>
          <p:nvPr/>
        </p:nvSpPr>
        <p:spPr>
          <a:xfrm>
            <a:off x="1332000" y="252975"/>
            <a:ext cx="1562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I permessi</a:t>
            </a:r>
            <a:endParaRPr/>
          </a:p>
        </p:txBody>
      </p:sp>
      <p:sp>
        <p:nvSpPr>
          <p:cNvPr id="541" name="Google Shape;541;p39"/>
          <p:cNvSpPr txBox="1"/>
          <p:nvPr/>
        </p:nvSpPr>
        <p:spPr>
          <a:xfrm>
            <a:off x="1396882" y="2890400"/>
            <a:ext cx="27285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di chi é</a:t>
            </a: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?</a:t>
            </a:r>
            <a:endParaRPr/>
          </a:p>
        </p:txBody>
      </p:sp>
      <p:sp>
        <p:nvSpPr>
          <p:cNvPr id="542" name="Google Shape;542;p39"/>
          <p:cNvSpPr txBox="1"/>
          <p:nvPr/>
        </p:nvSpPr>
        <p:spPr>
          <a:xfrm>
            <a:off x="14420424" y="2890400"/>
            <a:ext cx="348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 permessi principali</a:t>
            </a:r>
            <a:endParaRPr/>
          </a:p>
        </p:txBody>
      </p:sp>
      <p:sp>
        <p:nvSpPr>
          <p:cNvPr id="543" name="Google Shape;543;p39"/>
          <p:cNvSpPr txBox="1"/>
          <p:nvPr/>
        </p:nvSpPr>
        <p:spPr>
          <a:xfrm>
            <a:off x="878763" y="3673970"/>
            <a:ext cx="3764700" cy="10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ogni file ha un owner, group, others</a:t>
            </a:r>
            <a:b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</a:br>
            <a:endParaRPr/>
          </a:p>
        </p:txBody>
      </p:sp>
      <p:grpSp>
        <p:nvGrpSpPr>
          <p:cNvPr id="544" name="Google Shape;544;p39"/>
          <p:cNvGrpSpPr/>
          <p:nvPr/>
        </p:nvGrpSpPr>
        <p:grpSpPr>
          <a:xfrm>
            <a:off x="4395457" y="3158874"/>
            <a:ext cx="2780094" cy="753300"/>
            <a:chOff x="124" y="25128"/>
            <a:chExt cx="3706792" cy="1004400"/>
          </a:xfrm>
        </p:grpSpPr>
        <p:cxnSp>
          <p:nvCxnSpPr>
            <p:cNvPr id="545" name="Google Shape;545;p39"/>
            <p:cNvCxnSpPr/>
            <p:nvPr/>
          </p:nvCxnSpPr>
          <p:spPr>
            <a:xfrm>
              <a:off x="1570616" y="25128"/>
              <a:ext cx="2136300" cy="100440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546" name="Google Shape;546;p39"/>
            <p:cNvCxnSpPr/>
            <p:nvPr/>
          </p:nvCxnSpPr>
          <p:spPr>
            <a:xfrm rot="10800000">
              <a:off x="124" y="25400"/>
              <a:ext cx="1585500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47" name="Google Shape;547;p39"/>
          <p:cNvGrpSpPr/>
          <p:nvPr/>
        </p:nvGrpSpPr>
        <p:grpSpPr>
          <a:xfrm>
            <a:off x="11094351" y="3194921"/>
            <a:ext cx="2728379" cy="836100"/>
            <a:chOff x="12078" y="22390"/>
            <a:chExt cx="3637839" cy="1114800"/>
          </a:xfrm>
        </p:grpSpPr>
        <p:cxnSp>
          <p:nvCxnSpPr>
            <p:cNvPr id="548" name="Google Shape;548;p39"/>
            <p:cNvCxnSpPr/>
            <p:nvPr/>
          </p:nvCxnSpPr>
          <p:spPr>
            <a:xfrm flipH="1">
              <a:off x="12078" y="22390"/>
              <a:ext cx="2080800" cy="111480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lg" w="lg" type="oval"/>
            </a:ln>
          </p:spPr>
        </p:cxnSp>
        <p:cxnSp>
          <p:nvCxnSpPr>
            <p:cNvPr id="549" name="Google Shape;549;p39"/>
            <p:cNvCxnSpPr/>
            <p:nvPr/>
          </p:nvCxnSpPr>
          <p:spPr>
            <a:xfrm>
              <a:off x="2064417" y="25400"/>
              <a:ext cx="1585500" cy="0"/>
            </a:xfrm>
            <a:prstGeom prst="straightConnector1">
              <a:avLst/>
            </a:prstGeom>
            <a:noFill/>
            <a:ln cap="flat" cmpd="sng" w="508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50" name="Google Shape;550;p39"/>
          <p:cNvGrpSpPr/>
          <p:nvPr/>
        </p:nvGrpSpPr>
        <p:grpSpPr>
          <a:xfrm>
            <a:off x="14139075" y="3673975"/>
            <a:ext cx="1169534" cy="821976"/>
            <a:chOff x="0" y="-47625"/>
            <a:chExt cx="802810" cy="325200"/>
          </a:xfrm>
        </p:grpSpPr>
        <p:sp>
          <p:nvSpPr>
            <p:cNvPr id="551" name="Google Shape;551;p39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9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r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53" name="Google Shape;553;p39"/>
          <p:cNvSpPr txBox="1"/>
          <p:nvPr/>
        </p:nvSpPr>
        <p:spPr>
          <a:xfrm>
            <a:off x="4406850" y="8527725"/>
            <a:ext cx="94743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drwxr-xr-x</a:t>
            </a: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→ cartella: owner tutto, altri possono entrare e leggere</a:t>
            </a:r>
            <a:endParaRPr/>
          </a:p>
        </p:txBody>
      </p:sp>
      <p:pic>
        <p:nvPicPr>
          <p:cNvPr id="554" name="Google Shape;5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0425" y="2428825"/>
            <a:ext cx="4876800" cy="4876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5" name="Google Shape;555;p39"/>
          <p:cNvGrpSpPr/>
          <p:nvPr/>
        </p:nvGrpSpPr>
        <p:grpSpPr>
          <a:xfrm>
            <a:off x="14139075" y="4732512"/>
            <a:ext cx="1169534" cy="821976"/>
            <a:chOff x="0" y="-47625"/>
            <a:chExt cx="802810" cy="325200"/>
          </a:xfrm>
        </p:grpSpPr>
        <p:sp>
          <p:nvSpPr>
            <p:cNvPr id="556" name="Google Shape;556;p39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9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w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58" name="Google Shape;558;p39"/>
          <p:cNvGrpSpPr/>
          <p:nvPr/>
        </p:nvGrpSpPr>
        <p:grpSpPr>
          <a:xfrm>
            <a:off x="14139075" y="5919500"/>
            <a:ext cx="1169534" cy="821976"/>
            <a:chOff x="0" y="-47625"/>
            <a:chExt cx="802810" cy="325200"/>
          </a:xfrm>
        </p:grpSpPr>
        <p:sp>
          <p:nvSpPr>
            <p:cNvPr id="559" name="Google Shape;559;p39"/>
            <p:cNvSpPr/>
            <p:nvPr/>
          </p:nvSpPr>
          <p:spPr>
            <a:xfrm>
              <a:off x="0" y="0"/>
              <a:ext cx="802810" cy="277456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9"/>
            <p:cNvSpPr txBox="1"/>
            <p:nvPr/>
          </p:nvSpPr>
          <p:spPr>
            <a:xfrm>
              <a:off x="0" y="-47625"/>
              <a:ext cx="802800" cy="32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x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61" name="Google Shape;561;p39"/>
          <p:cNvSpPr txBox="1"/>
          <p:nvPr/>
        </p:nvSpPr>
        <p:spPr>
          <a:xfrm>
            <a:off x="15533125" y="3979525"/>
            <a:ext cx="2371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leggere</a:t>
            </a:r>
            <a:endParaRPr/>
          </a:p>
        </p:txBody>
      </p:sp>
      <p:sp>
        <p:nvSpPr>
          <p:cNvPr id="562" name="Google Shape;562;p39"/>
          <p:cNvSpPr txBox="1"/>
          <p:nvPr/>
        </p:nvSpPr>
        <p:spPr>
          <a:xfrm>
            <a:off x="15533125" y="4928100"/>
            <a:ext cx="2371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scrivere</a:t>
            </a:r>
            <a:endParaRPr/>
          </a:p>
        </p:txBody>
      </p:sp>
      <p:sp>
        <p:nvSpPr>
          <p:cNvPr id="563" name="Google Shape;563;p39"/>
          <p:cNvSpPr txBox="1"/>
          <p:nvPr/>
        </p:nvSpPr>
        <p:spPr>
          <a:xfrm>
            <a:off x="15533125" y="6115088"/>
            <a:ext cx="2371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1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3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eseguire</a:t>
            </a:r>
            <a:endParaRPr/>
          </a:p>
        </p:txBody>
      </p:sp>
      <p:sp>
        <p:nvSpPr>
          <p:cNvPr id="564" name="Google Shape;564;p39"/>
          <p:cNvSpPr txBox="1"/>
          <p:nvPr/>
        </p:nvSpPr>
        <p:spPr>
          <a:xfrm>
            <a:off x="11321299" y="1364000"/>
            <a:ext cx="348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versione semplice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40"/>
          <p:cNvSpPr txBox="1"/>
          <p:nvPr/>
        </p:nvSpPr>
        <p:spPr>
          <a:xfrm>
            <a:off x="1396825" y="300575"/>
            <a:ext cx="156240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Cambiare i permessi</a:t>
            </a:r>
            <a:endParaRPr/>
          </a:p>
        </p:txBody>
      </p:sp>
      <p:sp>
        <p:nvSpPr>
          <p:cNvPr id="570" name="Google Shape;570;p40"/>
          <p:cNvSpPr txBox="1"/>
          <p:nvPr/>
        </p:nvSpPr>
        <p:spPr>
          <a:xfrm>
            <a:off x="11610550" y="4528525"/>
            <a:ext cx="4971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modifiche ai permessi comuni</a:t>
            </a:r>
            <a:endParaRPr/>
          </a:p>
        </p:txBody>
      </p:sp>
      <p:pic>
        <p:nvPicPr>
          <p:cNvPr id="571" name="Google Shape;5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075" y="2893950"/>
            <a:ext cx="2222889" cy="2222889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0"/>
          <p:cNvSpPr txBox="1"/>
          <p:nvPr/>
        </p:nvSpPr>
        <p:spPr>
          <a:xfrm>
            <a:off x="13881149" y="1387825"/>
            <a:ext cx="348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versione semplice</a:t>
            </a:r>
            <a:endParaRPr/>
          </a:p>
        </p:txBody>
      </p:sp>
      <p:sp>
        <p:nvSpPr>
          <p:cNvPr id="573" name="Google Shape;573;p40"/>
          <p:cNvSpPr txBox="1"/>
          <p:nvPr/>
        </p:nvSpPr>
        <p:spPr>
          <a:xfrm>
            <a:off x="2887970" y="3005796"/>
            <a:ext cx="6122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4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hai un file e vuoi eseguirlo</a:t>
            </a:r>
            <a:endParaRPr sz="1674"/>
          </a:p>
        </p:txBody>
      </p:sp>
      <p:sp>
        <p:nvSpPr>
          <p:cNvPr id="574" name="Google Shape;574;p40"/>
          <p:cNvSpPr txBox="1"/>
          <p:nvPr/>
        </p:nvSpPr>
        <p:spPr>
          <a:xfrm>
            <a:off x="358673" y="5208744"/>
            <a:ext cx="2835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47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script.sh</a:t>
            </a:r>
            <a:endParaRPr sz="1674">
              <a:solidFill>
                <a:schemeClr val="dk1"/>
              </a:solidFill>
            </a:endParaRPr>
          </a:p>
        </p:txBody>
      </p:sp>
      <p:grpSp>
        <p:nvGrpSpPr>
          <p:cNvPr id="575" name="Google Shape;575;p40"/>
          <p:cNvGrpSpPr/>
          <p:nvPr/>
        </p:nvGrpSpPr>
        <p:grpSpPr>
          <a:xfrm>
            <a:off x="3394549" y="3903896"/>
            <a:ext cx="5109497" cy="1060913"/>
            <a:chOff x="-3" y="-73424"/>
            <a:chExt cx="1690375" cy="350982"/>
          </a:xfrm>
        </p:grpSpPr>
        <p:sp>
          <p:nvSpPr>
            <p:cNvPr id="576" name="Google Shape;576;p40"/>
            <p:cNvSpPr/>
            <p:nvPr/>
          </p:nvSpPr>
          <p:spPr>
            <a:xfrm>
              <a:off x="-3" y="-73424"/>
              <a:ext cx="1689915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30325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72775" lIns="72775" spcFirstLastPara="1" rIns="72775" wrap="square" tIns="727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74"/>
            </a:p>
          </p:txBody>
        </p:sp>
        <p:sp>
          <p:nvSpPr>
            <p:cNvPr id="577" name="Google Shape;577;p40"/>
            <p:cNvSpPr txBox="1"/>
            <p:nvPr/>
          </p:nvSpPr>
          <p:spPr>
            <a:xfrm>
              <a:off x="473" y="-11933"/>
              <a:ext cx="16899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0450" lIns="40450" spcFirstLastPara="1" rIns="40450" wrap="square" tIns="40450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44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chmod +x script.sh</a:t>
              </a:r>
              <a:endParaRPr b="1" i="0" sz="3944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78" name="Google Shape;578;p40"/>
          <p:cNvSpPr txBox="1"/>
          <p:nvPr/>
        </p:nvSpPr>
        <p:spPr>
          <a:xfrm>
            <a:off x="2887970" y="5347736"/>
            <a:ext cx="6122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43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47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ora puoi lanciarlo</a:t>
            </a:r>
            <a:endParaRPr sz="1674"/>
          </a:p>
        </p:txBody>
      </p:sp>
      <p:grpSp>
        <p:nvGrpSpPr>
          <p:cNvPr id="579" name="Google Shape;579;p40"/>
          <p:cNvGrpSpPr/>
          <p:nvPr/>
        </p:nvGrpSpPr>
        <p:grpSpPr>
          <a:xfrm>
            <a:off x="9942250" y="5576063"/>
            <a:ext cx="4272593" cy="887142"/>
            <a:chOff x="-3" y="-73424"/>
            <a:chExt cx="1690375" cy="350982"/>
          </a:xfrm>
        </p:grpSpPr>
        <p:sp>
          <p:nvSpPr>
            <p:cNvPr id="580" name="Google Shape;580;p40"/>
            <p:cNvSpPr/>
            <p:nvPr/>
          </p:nvSpPr>
          <p:spPr>
            <a:xfrm>
              <a:off x="-3" y="-73424"/>
              <a:ext cx="1689915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0"/>
            <p:cNvSpPr txBox="1"/>
            <p:nvPr/>
          </p:nvSpPr>
          <p:spPr>
            <a:xfrm>
              <a:off x="473" y="-11933"/>
              <a:ext cx="16899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chmod 644 file.txt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582" name="Google Shape;582;p40"/>
          <p:cNvGrpSpPr/>
          <p:nvPr/>
        </p:nvGrpSpPr>
        <p:grpSpPr>
          <a:xfrm>
            <a:off x="9892225" y="6898988"/>
            <a:ext cx="4272593" cy="887142"/>
            <a:chOff x="-3" y="-73424"/>
            <a:chExt cx="1690375" cy="350982"/>
          </a:xfrm>
        </p:grpSpPr>
        <p:sp>
          <p:nvSpPr>
            <p:cNvPr id="583" name="Google Shape;583;p40"/>
            <p:cNvSpPr/>
            <p:nvPr/>
          </p:nvSpPr>
          <p:spPr>
            <a:xfrm>
              <a:off x="-3" y="-73424"/>
              <a:ext cx="1689915" cy="350982"/>
            </a:xfrm>
            <a:custGeom>
              <a:rect b="b" l="l" r="r" t="t"/>
              <a:pathLst>
                <a:path extrusionOk="0" h="277456" w="802810">
                  <a:moveTo>
                    <a:pt x="35558" y="0"/>
                  </a:moveTo>
                  <a:lnTo>
                    <a:pt x="767252" y="0"/>
                  </a:lnTo>
                  <a:cubicBezTo>
                    <a:pt x="776683" y="0"/>
                    <a:pt x="785727" y="3746"/>
                    <a:pt x="792395" y="10415"/>
                  </a:cubicBezTo>
                  <a:cubicBezTo>
                    <a:pt x="799064" y="17083"/>
                    <a:pt x="802810" y="26127"/>
                    <a:pt x="802810" y="35558"/>
                  </a:cubicBezTo>
                  <a:lnTo>
                    <a:pt x="802810" y="241898"/>
                  </a:lnTo>
                  <a:cubicBezTo>
                    <a:pt x="802810" y="261536"/>
                    <a:pt x="786890" y="277456"/>
                    <a:pt x="767252" y="277456"/>
                  </a:cubicBezTo>
                  <a:lnTo>
                    <a:pt x="35558" y="277456"/>
                  </a:lnTo>
                  <a:cubicBezTo>
                    <a:pt x="26127" y="277456"/>
                    <a:pt x="17083" y="273710"/>
                    <a:pt x="10415" y="267041"/>
                  </a:cubicBezTo>
                  <a:cubicBezTo>
                    <a:pt x="3746" y="260373"/>
                    <a:pt x="0" y="251329"/>
                    <a:pt x="0" y="241898"/>
                  </a:cubicBezTo>
                  <a:lnTo>
                    <a:pt x="0" y="35558"/>
                  </a:lnTo>
                  <a:cubicBezTo>
                    <a:pt x="0" y="26127"/>
                    <a:pt x="3746" y="17083"/>
                    <a:pt x="10415" y="10415"/>
                  </a:cubicBezTo>
                  <a:cubicBezTo>
                    <a:pt x="17083" y="3746"/>
                    <a:pt x="26127" y="0"/>
                    <a:pt x="35558" y="0"/>
                  </a:cubicBezTo>
                  <a:close/>
                </a:path>
              </a:pathLst>
            </a:custGeom>
            <a:solidFill>
              <a:srgbClr val="305BCE"/>
            </a:solidFill>
            <a:ln cap="sq" cmpd="sng" w="25350">
              <a:solidFill>
                <a:srgbClr val="FFD7F3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60850" lIns="60850" spcFirstLastPara="1" rIns="60850" wrap="square" tIns="608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0"/>
            <p:cNvSpPr txBox="1"/>
            <p:nvPr/>
          </p:nvSpPr>
          <p:spPr>
            <a:xfrm>
              <a:off x="473" y="-11933"/>
              <a:ext cx="1689900" cy="22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825" lIns="33825" spcFirstLastPara="1" rIns="33825" wrap="square" tIns="33825">
              <a:normAutofit/>
            </a:bodyPr>
            <a:lstStyle/>
            <a:p>
              <a:pPr indent="0" lvl="0" marL="0" marR="0" rtl="0" algn="ctr">
                <a:lnSpc>
                  <a:spcPct val="17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chmod 755 file.txt</a:t>
              </a:r>
              <a:endParaRPr b="1" i="0" sz="3298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585" name="Google Shape;585;p40"/>
          <p:cNvSpPr txBox="1"/>
          <p:nvPr/>
        </p:nvSpPr>
        <p:spPr>
          <a:xfrm>
            <a:off x="14557424" y="5804238"/>
            <a:ext cx="348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owner rw, altri r</a:t>
            </a:r>
            <a:endParaRPr b="1" sz="27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6" name="Google Shape;586;p40"/>
          <p:cNvSpPr txBox="1"/>
          <p:nvPr/>
        </p:nvSpPr>
        <p:spPr>
          <a:xfrm>
            <a:off x="14557424" y="7127150"/>
            <a:ext cx="34839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799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owner rwx, altri rx</a:t>
            </a:r>
            <a:endParaRPr b="1" sz="2799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A8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1"/>
          <p:cNvSpPr txBox="1"/>
          <p:nvPr/>
        </p:nvSpPr>
        <p:spPr>
          <a:xfrm>
            <a:off x="506861" y="4566300"/>
            <a:ext cx="172743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>
                <a:solidFill>
                  <a:srgbClr val="FFCA04"/>
                </a:solidFill>
                <a:latin typeface="Paytone One"/>
                <a:ea typeface="Paytone One"/>
                <a:cs typeface="Paytone One"/>
                <a:sym typeface="Paytone One"/>
              </a:rPr>
              <a:t>Grazie per l'attenzione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